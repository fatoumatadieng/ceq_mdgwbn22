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0" r:id="rId5"/>
    <p:sldMasterId id="2147483672" r:id="rId6"/>
    <p:sldMasterId id="2147483687" r:id="rId7"/>
  </p:sldMasterIdLst>
  <p:notesMasterIdLst>
    <p:notesMasterId r:id="rId20"/>
  </p:notesMasterIdLst>
  <p:sldIdLst>
    <p:sldId id="256" r:id="rId8"/>
    <p:sldId id="265" r:id="rId9"/>
    <p:sldId id="2141411352" r:id="rId10"/>
    <p:sldId id="2141411355" r:id="rId11"/>
    <p:sldId id="264" r:id="rId12"/>
    <p:sldId id="257" r:id="rId13"/>
    <p:sldId id="258" r:id="rId14"/>
    <p:sldId id="259" r:id="rId15"/>
    <p:sldId id="260" r:id="rId16"/>
    <p:sldId id="261" r:id="rId17"/>
    <p:sldId id="262" r:id="rId18"/>
    <p:sldId id="26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04D2C3-9708-4A40-B052-67E70AE35FC2}" v="26" dt="2026-03-03T04:22:51.1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197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F6B514-CCAD-4A35-91C3-FEB68E04C9F7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5316D-72BF-4E15-98BB-D44B645870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8307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Couleur gris</a:t>
            </a:r>
            <a:r>
              <a:rPr lang="fr-FR" dirty="0"/>
              <a:t>: pas encore prise en compte ; </a:t>
            </a:r>
            <a:r>
              <a:rPr lang="fr-FR" b="1" dirty="0"/>
              <a:t>Couleur rouge</a:t>
            </a:r>
            <a:r>
              <a:rPr lang="fr-FR" dirty="0"/>
              <a:t>: l'impôt existe mais on n’a pas les informations nécessaires pour calculer la valeur de ces impôts.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5316D-72BF-4E15-98BB-D44B64587091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0536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2B1F1D-931A-D350-5A93-9E68C8CE2B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3068D96-EE0C-242B-9AB1-40291044A1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30FB9D1-3510-DC4D-3B64-E5D80266A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541A0-CBBF-4BA0-8989-464A58B7A4A5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4C4719-9CED-DD38-F5EF-94F700081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89AED52-101E-B3E3-47A2-D8A4BC4A6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498F8-2E9C-40F5-A181-30CE8FC984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08613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B056A2-422E-869B-4225-6329473A5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071C37-BEF6-DA0A-E666-B94705291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744DB06-3937-D816-BEC7-8ADD95C21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541A0-CBBF-4BA0-8989-464A58B7A4A5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462C98-8B63-81C6-8DFA-49328C518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C0880B4-59D9-A0B0-1947-958C3615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498F8-2E9C-40F5-A181-30CE8FC984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83199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59D6C8-E399-5ABC-263E-2B0CDB52E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258BF4-4DB7-5891-F7B3-837B554F1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8A0286-CADE-B59B-E11D-EA1026D1E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541A0-CBBF-4BA0-8989-464A58B7A4A5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BF90E6C-A723-E446-A9FE-1474D08AB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F42DFD-A2B7-9111-43D2-ABC0EB951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498F8-2E9C-40F5-A181-30CE8FC984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8289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478E6C-E959-8CCD-504A-2833CEC0A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AE3880-223D-4160-CED7-878E060602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E723045-51EC-D4F5-B54A-4E72B8606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3E468DA-676E-F011-CA64-3AAC5F094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541A0-CBBF-4BA0-8989-464A58B7A4A5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AEBB93B-05A5-2DFB-B813-9DF62992F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6C1E036-F36E-D595-728F-6D31D04E9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498F8-2E9C-40F5-A181-30CE8FC984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7279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CBAB41-AD83-0CF3-F64D-B0DF7DB52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1983DF-1A5F-8C10-6DD1-A32368CE5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E86CC7D-1D57-11C5-869E-27B22234F6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51EA560-94F5-2BA3-6A0D-B6D529D8A4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AA76FFE-035B-6E22-4519-2BF3103FB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F9BB623-BC1E-98E2-94F5-5F2304F42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541A0-CBBF-4BA0-8989-464A58B7A4A5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1E6AD8A-3243-A0D2-DBEE-CB60A9914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47473CE-807F-8C06-069E-9468538EA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498F8-2E9C-40F5-A181-30CE8FC984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03414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73657B-7A0B-8F0D-3248-1A5E63256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AFAB0DC-3DFC-769B-B848-250472F6D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541A0-CBBF-4BA0-8989-464A58B7A4A5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01FAF7A-AF34-89C5-D8E5-62ACA0937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C01079B-17D8-6F6A-6276-A461DC17E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498F8-2E9C-40F5-A181-30CE8FC984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8063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31B2099-C6D3-7E75-90FA-76C4EFE96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541A0-CBBF-4BA0-8989-464A58B7A4A5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1F39CA3-ED76-664C-99AE-7BDB73167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7437AA-A970-5818-FFAB-678409419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498F8-2E9C-40F5-A181-30CE8FC984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80970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D113E7-EEA1-609C-436E-D6E8D49EA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79F4D8-12A2-88A0-58A4-85792C206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0DFF4A0-BABB-B7B0-58E8-D3A8E5ED7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17E9AA2-9225-DCAD-CF73-965BBCC34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541A0-CBBF-4BA0-8989-464A58B7A4A5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678A9F8-F5BB-BED6-7292-A0E6C90E8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2B79EB-1C29-690A-53DD-BFE9893D5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498F8-2E9C-40F5-A181-30CE8FC984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38829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5116FC-74C5-8C0C-1B61-AFB52587D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CD034E1-306D-7F14-673C-8EAFF12712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3AECA95-25C8-F0E3-C344-A7A430F90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99299EF-0F70-D876-9637-CB45404F8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541A0-CBBF-4BA0-8989-464A58B7A4A5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BADC33C-761A-AE31-1E6A-1501B6797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FC7C24E-D996-5C6F-2193-396CD437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498F8-2E9C-40F5-A181-30CE8FC984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92514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C8C19F-10D8-11BE-F41F-8F97E4B74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2869BA9-9238-C3CE-0747-0F3F0E08C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21357D-1986-B33F-AD9E-2A7C15EA4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541A0-CBBF-4BA0-8989-464A58B7A4A5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E9D7B0A-15D7-C9B5-B4BC-692142590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E76CC9-2C4E-DDBB-A7C2-2CB54F300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498F8-2E9C-40F5-A181-30CE8FC984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5823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3EA69F2-BEA1-3505-B62F-70F04D6C8C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B37759E-9BFA-31A7-DF3B-DC07780268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E524E61-F1C2-AD46-1DD9-EB87C77A2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541A0-CBBF-4BA0-8989-464A58B7A4A5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D107BD-5D75-5884-1B8A-92BA53F02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FB546A-683B-F5CB-3DD0-59829D8E2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498F8-2E9C-40F5-A181-30CE8FC984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21630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19CD2-238C-B867-52CE-AC450822F35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2477241"/>
            <a:ext cx="6858000" cy="1032722"/>
          </a:xfrm>
        </p:spPr>
        <p:txBody>
          <a:bodyPr anchor="b"/>
          <a:lstStyle>
            <a:lvl1pPr algn="l">
              <a:defRPr sz="4500" b="1">
                <a:solidFill>
                  <a:schemeClr val="bg2"/>
                </a:solidFill>
              </a:defRPr>
            </a:lvl1pPr>
          </a:lstStyle>
          <a:p>
            <a:r>
              <a:rPr lang="en-US"/>
              <a:t>Headings: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E0886F-5CAB-511B-7544-49BBFEB22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560319"/>
          </a:xfrm>
        </p:spPr>
        <p:txBody>
          <a:bodyPr>
            <a:normAutofit/>
          </a:bodyPr>
          <a:lstStyle>
            <a:lvl1pPr marL="0" indent="0" algn="l">
              <a:buNone/>
              <a:defRPr sz="2200" b="1">
                <a:solidFill>
                  <a:schemeClr val="bg2"/>
                </a:solidFill>
                <a:latin typeface="+mj-lt"/>
              </a:defRPr>
            </a:lvl1pPr>
            <a:lvl2pPr marL="342917" indent="0" algn="ctr">
              <a:buNone/>
              <a:defRPr sz="1500"/>
            </a:lvl2pPr>
            <a:lvl3pPr marL="685835" indent="0" algn="ctr">
              <a:buNone/>
              <a:defRPr sz="1350"/>
            </a:lvl3pPr>
            <a:lvl4pPr marL="1028752" indent="0" algn="ctr">
              <a:buNone/>
              <a:defRPr sz="1200"/>
            </a:lvl4pPr>
            <a:lvl5pPr marL="1371668" indent="0" algn="ctr">
              <a:buNone/>
              <a:defRPr sz="1200"/>
            </a:lvl5pPr>
            <a:lvl6pPr marL="1714586" indent="0" algn="ctr">
              <a:buNone/>
              <a:defRPr sz="1200"/>
            </a:lvl6pPr>
            <a:lvl7pPr marL="2057503" indent="0" algn="ctr">
              <a:buNone/>
              <a:defRPr sz="1200"/>
            </a:lvl7pPr>
            <a:lvl8pPr marL="2400420" indent="0" algn="ctr">
              <a:buNone/>
              <a:defRPr sz="1200"/>
            </a:lvl8pPr>
            <a:lvl9pPr marL="2743337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0E5B8-24E0-8C94-C916-C09EB44D2C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43000" y="4424398"/>
            <a:ext cx="2057400" cy="365125"/>
          </a:xfrm>
        </p:spPr>
        <p:txBody>
          <a:bodyPr/>
          <a:lstStyle>
            <a:lvl1pPr>
              <a:defRPr sz="1600" b="1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/>
              <a:t>Date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C02ED9-278F-03F5-024E-6F2344EC4792}"/>
              </a:ext>
            </a:extLst>
          </p:cNvPr>
          <p:cNvSpPr txBox="1"/>
          <p:nvPr/>
        </p:nvSpPr>
        <p:spPr>
          <a:xfrm>
            <a:off x="3924301" y="2362200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9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8A8D5A-464B-0D39-7C56-83E1D038AE25}"/>
              </a:ext>
            </a:extLst>
          </p:cNvPr>
          <p:cNvSpPr txBox="1"/>
          <p:nvPr/>
        </p:nvSpPr>
        <p:spPr>
          <a:xfrm>
            <a:off x="3905250" y="5664201"/>
            <a:ext cx="4572000" cy="344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23" rtl="0" eaLnBrk="1" fontAlgn="auto" latinLnBrk="0" hangingPunct="1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36" b="0" i="0" u="none" strike="noStrike" kern="1200" cap="none" spc="16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aleway"/>
                <a:ea typeface="+mn-ea"/>
                <a:cs typeface="+mn-cs"/>
              </a:rPr>
              <a:t>partners/collaborators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D1F6C0-4C40-C069-A40F-3D2739C627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100" y="283247"/>
            <a:ext cx="3905250" cy="10327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73CE2E-A26E-C8A5-B3DF-C862CD2966EC}"/>
              </a:ext>
            </a:extLst>
          </p:cNvPr>
          <p:cNvSpPr txBox="1"/>
          <p:nvPr userDrawn="1"/>
        </p:nvSpPr>
        <p:spPr>
          <a:xfrm>
            <a:off x="3924301" y="2362200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9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863E37-184D-9F26-5BB4-A7EF507E0DD9}"/>
              </a:ext>
            </a:extLst>
          </p:cNvPr>
          <p:cNvSpPr txBox="1"/>
          <p:nvPr userDrawn="1"/>
        </p:nvSpPr>
        <p:spPr>
          <a:xfrm>
            <a:off x="3905250" y="5664201"/>
            <a:ext cx="4572000" cy="344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23" rtl="0" eaLnBrk="1" fontAlgn="auto" latinLnBrk="0" hangingPunct="1">
              <a:lnSpc>
                <a:spcPts val="212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36" b="0" i="0" u="none" strike="noStrike" kern="1200" cap="none" spc="16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aleway"/>
                <a:ea typeface="+mn-ea"/>
                <a:cs typeface="+mn-cs"/>
              </a:rPr>
              <a:t>partners/collaborators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CAD5E4-807B-25FA-B26F-4E1F5A9322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100" y="283247"/>
            <a:ext cx="3905250" cy="1032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366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Message w/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6CC97-457E-E9F5-9333-47EDCDB02E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8100" y="630238"/>
            <a:ext cx="4838700" cy="1325563"/>
          </a:xfrm>
        </p:spPr>
        <p:txBody>
          <a:bodyPr>
            <a:normAutofit/>
          </a:bodyPr>
          <a:lstStyle>
            <a:lvl1pPr algn="ctr">
              <a:defRPr sz="33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4ACEF0-5812-6DA8-7C54-EC1CD7DF0E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3543299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74DC00-5513-399F-965A-75D25A467E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48100" y="2159000"/>
            <a:ext cx="48387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6B4195F-DB58-C4B5-B396-71E4095E00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95807"/>
            <a:ext cx="1490830" cy="3942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2CA3C0A-202D-DB3F-83C6-D1E80B88E8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95807"/>
            <a:ext cx="1490830" cy="39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8668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/content white bg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CB9D0E2-B92E-EFDD-3C85-A886AB3B7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39158"/>
            <a:ext cx="1487553" cy="39424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0B66329-633A-8774-5751-320318879F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43800" y="139158"/>
            <a:ext cx="1487553" cy="39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9733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EE9DB-2AD3-64B1-9825-D28EAD0E8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58699-44E0-2B90-8B7B-8688DF3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E3E9D-37F5-33AF-2948-447CB928A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A6D6A-D286-876E-C965-67F0CE858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9933E-EA54-725C-8979-577014A0C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9175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1A1B2-D279-DF0F-4B9B-5E09EB82C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BEED6-AF1B-A8EB-07BE-21036400C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1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35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5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6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8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50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42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33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BDF10-77FF-188C-560A-CA4B58B31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73542-4D44-F28A-7697-F37C4EF33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A4B6C-6734-8FB1-4273-6B53F2781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718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57D58-368B-EB03-D079-9439FC822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1325563"/>
          </a:xfrm>
        </p:spPr>
        <p:txBody>
          <a:bodyPr/>
          <a:lstStyle>
            <a:lvl1pPr>
              <a:defRPr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EDB16-94E9-C06E-2C0A-18EDAF141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bg2"/>
                </a:solidFill>
              </a:defRPr>
            </a:lvl1pPr>
            <a:lvl2pPr marL="342917" indent="0">
              <a:buNone/>
              <a:defRPr sz="1500" b="1"/>
            </a:lvl2pPr>
            <a:lvl3pPr marL="685835" indent="0">
              <a:buNone/>
              <a:defRPr sz="1350" b="1"/>
            </a:lvl3pPr>
            <a:lvl4pPr marL="1028752" indent="0">
              <a:buNone/>
              <a:defRPr sz="1200" b="1"/>
            </a:lvl4pPr>
            <a:lvl5pPr marL="1371668" indent="0">
              <a:buNone/>
              <a:defRPr sz="1200" b="1"/>
            </a:lvl5pPr>
            <a:lvl6pPr marL="1714586" indent="0">
              <a:buNone/>
              <a:defRPr sz="1200" b="1"/>
            </a:lvl6pPr>
            <a:lvl7pPr marL="2057503" indent="0">
              <a:buNone/>
              <a:defRPr sz="1200" b="1"/>
            </a:lvl7pPr>
            <a:lvl8pPr marL="2400420" indent="0">
              <a:buNone/>
              <a:defRPr sz="1200" b="1"/>
            </a:lvl8pPr>
            <a:lvl9pPr marL="2743337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E7A50C-AAA3-3DF0-C241-6AEED508EF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B0B763-0529-ABC1-DCAE-21D25DD302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bg2"/>
                </a:solidFill>
              </a:defRPr>
            </a:lvl1pPr>
            <a:lvl2pPr marL="342917" indent="0">
              <a:buNone/>
              <a:defRPr sz="1500" b="1"/>
            </a:lvl2pPr>
            <a:lvl3pPr marL="685835" indent="0">
              <a:buNone/>
              <a:defRPr sz="1350" b="1"/>
            </a:lvl3pPr>
            <a:lvl4pPr marL="1028752" indent="0">
              <a:buNone/>
              <a:defRPr sz="1200" b="1"/>
            </a:lvl4pPr>
            <a:lvl5pPr marL="1371668" indent="0">
              <a:buNone/>
              <a:defRPr sz="1200" b="1"/>
            </a:lvl5pPr>
            <a:lvl6pPr marL="1714586" indent="0">
              <a:buNone/>
              <a:defRPr sz="1200" b="1"/>
            </a:lvl6pPr>
            <a:lvl7pPr marL="2057503" indent="0">
              <a:buNone/>
              <a:defRPr sz="1200" b="1"/>
            </a:lvl7pPr>
            <a:lvl8pPr marL="2400420" indent="0">
              <a:buNone/>
              <a:defRPr sz="1200" b="1"/>
            </a:lvl8pPr>
            <a:lvl9pPr marL="2743337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29D819-F6ED-D0A3-20E7-6EFAA7F2DC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159551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6CCAC-9CF2-EA07-9A93-6A96F4A97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81495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052328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62509-512D-F552-1060-ECCEA23BD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2" y="457200"/>
            <a:ext cx="2949178" cy="1600200"/>
          </a:xfrm>
        </p:spPr>
        <p:txBody>
          <a:bodyPr anchor="b"/>
          <a:lstStyle>
            <a:lvl1pPr>
              <a:defRPr sz="24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F5D74-21E8-18B7-209B-D569EA0AA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7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B8458B-AF57-3EA8-6F07-3539CD013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2" y="2057400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342917" indent="0">
              <a:buNone/>
              <a:defRPr sz="1050"/>
            </a:lvl2pPr>
            <a:lvl3pPr marL="685835" indent="0">
              <a:buNone/>
              <a:defRPr sz="900"/>
            </a:lvl3pPr>
            <a:lvl4pPr marL="1028752" indent="0">
              <a:buNone/>
              <a:defRPr sz="750"/>
            </a:lvl4pPr>
            <a:lvl5pPr marL="1371668" indent="0">
              <a:buNone/>
              <a:defRPr sz="750"/>
            </a:lvl5pPr>
            <a:lvl6pPr marL="1714586" indent="0">
              <a:buNone/>
              <a:defRPr sz="750"/>
            </a:lvl6pPr>
            <a:lvl7pPr marL="2057503" indent="0">
              <a:buNone/>
              <a:defRPr sz="750"/>
            </a:lvl7pPr>
            <a:lvl8pPr marL="2400420" indent="0">
              <a:buNone/>
              <a:defRPr sz="750"/>
            </a:lvl8pPr>
            <a:lvl9pPr marL="274333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62405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50F03-F7C3-2FC7-E368-8215EB0AE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2" y="457200"/>
            <a:ext cx="2949178" cy="1600200"/>
          </a:xfrm>
        </p:spPr>
        <p:txBody>
          <a:bodyPr anchor="b"/>
          <a:lstStyle>
            <a:lvl1pPr>
              <a:defRPr sz="24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EE91B5-0F41-4527-B9BD-523B95C2C6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7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17" indent="0">
              <a:buNone/>
              <a:defRPr sz="2100"/>
            </a:lvl2pPr>
            <a:lvl3pPr marL="685835" indent="0">
              <a:buNone/>
              <a:defRPr sz="1800"/>
            </a:lvl3pPr>
            <a:lvl4pPr marL="1028752" indent="0">
              <a:buNone/>
              <a:defRPr sz="1500"/>
            </a:lvl4pPr>
            <a:lvl5pPr marL="1371668" indent="0">
              <a:buNone/>
              <a:defRPr sz="1500"/>
            </a:lvl5pPr>
            <a:lvl6pPr marL="1714586" indent="0">
              <a:buNone/>
              <a:defRPr sz="1500"/>
            </a:lvl6pPr>
            <a:lvl7pPr marL="2057503" indent="0">
              <a:buNone/>
              <a:defRPr sz="1500"/>
            </a:lvl7pPr>
            <a:lvl8pPr marL="2400420" indent="0">
              <a:buNone/>
              <a:defRPr sz="1500"/>
            </a:lvl8pPr>
            <a:lvl9pPr marL="2743337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00B5B-4AA6-C119-B00B-6B697942A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2" y="2057400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342917" indent="0">
              <a:buNone/>
              <a:defRPr sz="1050"/>
            </a:lvl2pPr>
            <a:lvl3pPr marL="685835" indent="0">
              <a:buNone/>
              <a:defRPr sz="900"/>
            </a:lvl3pPr>
            <a:lvl4pPr marL="1028752" indent="0">
              <a:buNone/>
              <a:defRPr sz="750"/>
            </a:lvl4pPr>
            <a:lvl5pPr marL="1371668" indent="0">
              <a:buNone/>
              <a:defRPr sz="750"/>
            </a:lvl5pPr>
            <a:lvl6pPr marL="1714586" indent="0">
              <a:buNone/>
              <a:defRPr sz="750"/>
            </a:lvl6pPr>
            <a:lvl7pPr marL="2057503" indent="0">
              <a:buNone/>
              <a:defRPr sz="750"/>
            </a:lvl7pPr>
            <a:lvl8pPr marL="2400420" indent="0">
              <a:buNone/>
              <a:defRPr sz="750"/>
            </a:lvl8pPr>
            <a:lvl9pPr marL="274333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09521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D6B7F-E098-0A14-7BC2-338589CB5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2C1720-31BF-5E9B-8F3B-1D2730B19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9886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B023A3-8ED3-D884-2067-7137E33C6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6"/>
            <a:ext cx="1971675" cy="5811838"/>
          </a:xfrm>
        </p:spPr>
        <p:txBody>
          <a:bodyPr vert="eaVert"/>
          <a:lstStyle>
            <a:lvl1pPr>
              <a:defRPr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893405-3399-3A80-3609-827BD9891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6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33670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ey Message w/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6CC97-457E-E9F5-9333-47EDCDB02E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8100" y="630238"/>
            <a:ext cx="4838700" cy="1325563"/>
          </a:xfrm>
        </p:spPr>
        <p:txBody>
          <a:bodyPr>
            <a:normAutofit/>
          </a:bodyPr>
          <a:lstStyle>
            <a:lvl1pPr algn="ctr">
              <a:defRPr sz="33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4ACEF0-5812-6DA8-7C54-EC1CD7DF0E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3543299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74DC00-5513-399F-965A-75D25A467E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48100" y="2159000"/>
            <a:ext cx="48387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6B4195F-DB58-C4B5-B396-71E4095E00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95807"/>
            <a:ext cx="1490830" cy="39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4973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82441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EBEAA-34F5-B2F8-4A88-8D496B73B8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D09D10-6429-B192-CFBA-28429FC09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BE5A7-6A9F-1759-FFC1-B57FAF29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315E7-FC1C-4173-AD7B-15E9E80BEE38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2B0F0-C937-521B-5653-3BF0A2552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927B8-0638-D7CB-25BE-E92EF867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0E43B-8787-4714-941B-E3D77E4CFF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563712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FE4E2-015B-1479-80E3-0FA99162B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2B76E-B277-3FEC-2E4B-6AEC0AB36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9CA63-FC8E-F8D5-A541-22F0B54B1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315E7-FC1C-4173-AD7B-15E9E80BEE38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B3E31-602D-21B3-3CAC-E77E4211A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61BFA-7E1F-A667-B8A7-182AA48C3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0E43B-8787-4714-941B-E3D77E4CFF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317097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E7658-781F-987B-A1DC-4BC1937DC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6E103-3ABC-8446-2873-D3D9E213F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0A171-A85C-127E-E06D-DD79454F8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315E7-FC1C-4173-AD7B-15E9E80BEE38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AC19C-DD5C-D885-3D44-BE070DB0A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87D2D-7197-D8C2-00E2-8894D162D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0E43B-8787-4714-941B-E3D77E4CFF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20176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54C9A-417B-3CF7-4DAC-571A1466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F8A21-B0DD-085C-7B9A-D5AA0F42EC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9252B1-B58F-000A-4334-BEDB18DFE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FACAC4-F78E-70BE-82B2-F80F5F8C5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315E7-FC1C-4173-AD7B-15E9E80BEE38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3D296F-40BD-E9EB-1CC6-5CEA8E12E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D4765-76CF-922C-53B5-57B745B28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0E43B-8787-4714-941B-E3D77E4CFF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81923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4EC9F-22A8-57B8-2216-D9E9EBB40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17843-104A-33D1-4C9F-B0189D266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37C742-568B-18D1-F89F-82152D12E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8AE051-67F2-D21E-2759-23FCA31CED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902361-3E3C-7E25-1B72-4BC4CA00DE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5BD5DF-144D-DD26-1059-6CB7B13CE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315E7-FC1C-4173-AD7B-15E9E80BEE38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73EEBD-C0F1-E24C-DDA0-09911B23D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4F1472-F09D-F724-3821-8646FA97C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0E43B-8787-4714-941B-E3D77E4CFF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281089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6E4F9-FEB6-7C22-D0B8-F3D961CC0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0E493F-C92E-C470-6759-9DD705AE2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315E7-FC1C-4173-AD7B-15E9E80BEE38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B9491B-A079-74B5-539C-29DAF5142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7AF576-2E6C-851E-D796-CF97E2F1B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0E43B-8787-4714-941B-E3D77E4CFF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78103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B74159-A016-9FB8-BAA9-48EF609D2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315E7-FC1C-4173-AD7B-15E9E80BEE38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27CD14-2DAF-DA66-F9E3-41A08B2A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C5E29-114D-F18F-9CA4-A59F3D68B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0E43B-8787-4714-941B-E3D77E4CFF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829485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FC038-EA85-D095-5E22-F83C0F275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258E0-EBD5-F816-61C0-EED3FEFAF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53F90-1A94-0669-F3B3-1A00013452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446E5-5E09-95A0-02DB-783319000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315E7-FC1C-4173-AD7B-15E9E80BEE38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38823-A8F6-16EF-6772-273EE641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31E93-6233-5417-EB07-2935F2406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0E43B-8787-4714-941B-E3D77E4CFF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083748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F61BB-3F0B-FCE8-FCAE-C56B208B2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19456A-31F3-E33B-3FB0-7E5FC5029B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C6441D-4A82-79E5-E8E3-73119CA78B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AC7BB5-0FB0-5555-E34F-FEBAB044D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315E7-FC1C-4173-AD7B-15E9E80BEE38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C3F43-8A09-0357-41AC-CBEC5B1F3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B7F0AA-5B96-C876-2E43-594054B74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0E43B-8787-4714-941B-E3D77E4CFF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404139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A7FDA-3C77-0D5A-4318-82D9A758D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474A61-2E2B-C245-D3A6-92AE8CBDB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2BFCD-5038-D120-6968-76FDBBADA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315E7-FC1C-4173-AD7B-15E9E80BEE38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2165C-D56A-CB02-CFEF-135E404FC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F2750-56A2-1DE7-F114-56E8FFDBF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0E43B-8787-4714-941B-E3D77E4CFF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229320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2E6AA1-7A7D-38DD-E160-74080FB19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548BC3-FFFC-CAB4-9219-5F8758EDD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75BC4-1E17-535A-16D9-301ED6078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315E7-FC1C-4173-AD7B-15E9E80BEE38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3E6F3-DE34-E9E9-88B7-1B7B7CC5A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F5EA2-DD11-37A5-4BED-F6658DC24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0E43B-8787-4714-941B-E3D77E4CFF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121197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7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2E541B56-E562-45F7-AF65-DC212716E3B3}"/>
              </a:ext>
            </a:extLst>
          </p:cNvPr>
          <p:cNvSpPr/>
          <p:nvPr userDrawn="1"/>
        </p:nvSpPr>
        <p:spPr>
          <a:xfrm>
            <a:off x="0" y="2638425"/>
            <a:ext cx="9144000" cy="3356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1D487A8B-D75C-45FC-8BC1-0D4AF5ACE0C7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0" y="2966650"/>
            <a:ext cx="4572000" cy="2700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8" name="그림 개체 틀 2">
            <a:extLst>
              <a:ext uri="{FF2B5EF4-FFF2-40B4-BE49-F238E27FC236}">
                <a16:creationId xmlns:a16="http://schemas.microsoft.com/office/drawing/2014/main" id="{79C5F99C-EA45-41DC-966E-F17A247EA3C2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6557962" y="558509"/>
            <a:ext cx="1900238" cy="574098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18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67405776-0674-4B73-8857-57894B395A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69" y="6270801"/>
            <a:ext cx="1133202" cy="30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177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074B1F1-71AB-C5B4-3665-066BA329473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162925" y="6642100"/>
            <a:ext cx="9429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Official Use Only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5BC3A89-8595-4A51-8878-5AB2A851C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6BBB77A-3866-B0D3-7DD1-85A53C02B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306AA9-B78A-88AD-E044-6E1DE6DA7F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9541A0-CBBF-4BA0-8989-464A58B7A4A5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FB4F7B-E99F-D760-B77E-27D39F6BE7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3AC3C97-23F4-BEC6-CDF7-AA15AF01FE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2498F8-2E9C-40F5-A181-30CE8FC98435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15103D2-1783-F2D0-F863-6EDCB9888E7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408194" y="6642100"/>
            <a:ext cx="707231" cy="115416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75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Official Use Only</a:t>
            </a:r>
          </a:p>
        </p:txBody>
      </p:sp>
    </p:spTree>
    <p:extLst>
      <p:ext uri="{BB962C8B-B14F-4D97-AF65-F5344CB8AC3E}">
        <p14:creationId xmlns:p14="http://schemas.microsoft.com/office/powerpoint/2010/main" val="1094954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F915F0-DC61-A487-A7A7-C6CE5BEC4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CED6B-CC4C-3A0E-DC41-B485981BA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6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DE8B1-ACBD-E40D-6A51-FF64A13E2B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A3A17-3357-7B69-1DE3-11AD4767CD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5CD74-B387-82D4-C2A2-E7D2DA4636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660C909-C4DD-5560-E4BB-D9A83C68610C}"/>
              </a:ext>
            </a:extLst>
          </p:cNvPr>
          <p:cNvGrpSpPr/>
          <p:nvPr/>
        </p:nvGrpSpPr>
        <p:grpSpPr>
          <a:xfrm>
            <a:off x="0" y="0"/>
            <a:ext cx="208190" cy="6858000"/>
            <a:chOff x="0" y="0"/>
            <a:chExt cx="416379" cy="10287000"/>
          </a:xfrm>
        </p:grpSpPr>
        <p:sp>
          <p:nvSpPr>
            <p:cNvPr id="8" name="AutoShape 2">
              <a:extLst>
                <a:ext uri="{FF2B5EF4-FFF2-40B4-BE49-F238E27FC236}">
                  <a16:creationId xmlns:a16="http://schemas.microsoft.com/office/drawing/2014/main" id="{859F9A03-DAF8-1074-2F98-97E0DF60D4C1}"/>
                </a:ext>
              </a:extLst>
            </p:cNvPr>
            <p:cNvSpPr/>
            <p:nvPr/>
          </p:nvSpPr>
          <p:spPr>
            <a:xfrm>
              <a:off x="0" y="0"/>
              <a:ext cx="416379" cy="2575832"/>
            </a:xfrm>
            <a:prstGeom prst="rect">
              <a:avLst/>
            </a:prstGeom>
            <a:solidFill>
              <a:srgbClr val="002244"/>
            </a:solidFill>
          </p:spPr>
          <p:txBody>
            <a:bodyPr/>
            <a:lstStyle/>
            <a:p>
              <a:endParaRPr lang="fr-FR" sz="900"/>
            </a:p>
          </p:txBody>
        </p:sp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40EE2A84-9D19-ED0B-18C4-5E2771D5A686}"/>
                </a:ext>
              </a:extLst>
            </p:cNvPr>
            <p:cNvSpPr/>
            <p:nvPr/>
          </p:nvSpPr>
          <p:spPr>
            <a:xfrm>
              <a:off x="0" y="2575832"/>
              <a:ext cx="416379" cy="2575832"/>
            </a:xfrm>
            <a:prstGeom prst="rect">
              <a:avLst/>
            </a:prstGeom>
            <a:solidFill>
              <a:srgbClr val="009FDA"/>
            </a:solidFill>
          </p:spPr>
          <p:txBody>
            <a:bodyPr/>
            <a:lstStyle/>
            <a:p>
              <a:endParaRPr lang="fr-FR" sz="900"/>
            </a:p>
          </p:txBody>
        </p:sp>
        <p:sp>
          <p:nvSpPr>
            <p:cNvPr id="10" name="AutoShape 4">
              <a:extLst>
                <a:ext uri="{FF2B5EF4-FFF2-40B4-BE49-F238E27FC236}">
                  <a16:creationId xmlns:a16="http://schemas.microsoft.com/office/drawing/2014/main" id="{80A2B500-168C-A155-6BB8-9B8042C31426}"/>
                </a:ext>
              </a:extLst>
            </p:cNvPr>
            <p:cNvSpPr/>
            <p:nvPr/>
          </p:nvSpPr>
          <p:spPr>
            <a:xfrm>
              <a:off x="0" y="5151664"/>
              <a:ext cx="416379" cy="2575832"/>
            </a:xfrm>
            <a:prstGeom prst="rect">
              <a:avLst/>
            </a:prstGeom>
            <a:solidFill>
              <a:srgbClr val="A3CED6"/>
            </a:solidFill>
          </p:spPr>
          <p:txBody>
            <a:bodyPr/>
            <a:lstStyle/>
            <a:p>
              <a:endParaRPr lang="fr-FR" sz="900"/>
            </a:p>
          </p:txBody>
        </p:sp>
        <p:sp>
          <p:nvSpPr>
            <p:cNvPr id="11" name="AutoShape 5">
              <a:extLst>
                <a:ext uri="{FF2B5EF4-FFF2-40B4-BE49-F238E27FC236}">
                  <a16:creationId xmlns:a16="http://schemas.microsoft.com/office/drawing/2014/main" id="{8A1CF899-3903-1AB0-EAF3-2821B3533EAF}"/>
                </a:ext>
              </a:extLst>
            </p:cNvPr>
            <p:cNvSpPr/>
            <p:nvPr/>
          </p:nvSpPr>
          <p:spPr>
            <a:xfrm>
              <a:off x="0" y="7711168"/>
              <a:ext cx="416379" cy="2575832"/>
            </a:xfrm>
            <a:prstGeom prst="rect">
              <a:avLst/>
            </a:prstGeom>
            <a:solidFill>
              <a:srgbClr val="D9CBE4"/>
            </a:solidFill>
          </p:spPr>
          <p:txBody>
            <a:bodyPr/>
            <a:lstStyle/>
            <a:p>
              <a:endParaRPr lang="fr-FR" sz="90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DFD7ADA-1028-2066-4262-1B5DDDBE7D51}"/>
              </a:ext>
            </a:extLst>
          </p:cNvPr>
          <p:cNvGrpSpPr/>
          <p:nvPr userDrawn="1"/>
        </p:nvGrpSpPr>
        <p:grpSpPr>
          <a:xfrm>
            <a:off x="0" y="0"/>
            <a:ext cx="208190" cy="6858000"/>
            <a:chOff x="0" y="0"/>
            <a:chExt cx="416379" cy="10287000"/>
          </a:xfrm>
        </p:grpSpPr>
        <p:sp>
          <p:nvSpPr>
            <p:cNvPr id="13" name="AutoShape 2">
              <a:extLst>
                <a:ext uri="{FF2B5EF4-FFF2-40B4-BE49-F238E27FC236}">
                  <a16:creationId xmlns:a16="http://schemas.microsoft.com/office/drawing/2014/main" id="{BE1C74D2-71F0-1987-B98F-E55CA023A146}"/>
                </a:ext>
              </a:extLst>
            </p:cNvPr>
            <p:cNvSpPr/>
            <p:nvPr/>
          </p:nvSpPr>
          <p:spPr>
            <a:xfrm>
              <a:off x="0" y="0"/>
              <a:ext cx="416379" cy="2575832"/>
            </a:xfrm>
            <a:prstGeom prst="rect">
              <a:avLst/>
            </a:prstGeom>
            <a:solidFill>
              <a:srgbClr val="002244"/>
            </a:solidFill>
          </p:spPr>
          <p:txBody>
            <a:bodyPr/>
            <a:lstStyle/>
            <a:p>
              <a:endParaRPr lang="fr-FR" sz="900"/>
            </a:p>
          </p:txBody>
        </p:sp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7D1ADE5F-2DC8-7D52-BE76-5E7139D73478}"/>
                </a:ext>
              </a:extLst>
            </p:cNvPr>
            <p:cNvSpPr/>
            <p:nvPr/>
          </p:nvSpPr>
          <p:spPr>
            <a:xfrm>
              <a:off x="0" y="2575832"/>
              <a:ext cx="416379" cy="2575832"/>
            </a:xfrm>
            <a:prstGeom prst="rect">
              <a:avLst/>
            </a:prstGeom>
            <a:solidFill>
              <a:srgbClr val="009FDA"/>
            </a:solidFill>
          </p:spPr>
          <p:txBody>
            <a:bodyPr/>
            <a:lstStyle/>
            <a:p>
              <a:endParaRPr lang="fr-FR" sz="900"/>
            </a:p>
          </p:txBody>
        </p:sp>
        <p:sp>
          <p:nvSpPr>
            <p:cNvPr id="15" name="AutoShape 4">
              <a:extLst>
                <a:ext uri="{FF2B5EF4-FFF2-40B4-BE49-F238E27FC236}">
                  <a16:creationId xmlns:a16="http://schemas.microsoft.com/office/drawing/2014/main" id="{185BDD6D-FC02-FB12-5C7F-3E096F94C240}"/>
                </a:ext>
              </a:extLst>
            </p:cNvPr>
            <p:cNvSpPr/>
            <p:nvPr/>
          </p:nvSpPr>
          <p:spPr>
            <a:xfrm>
              <a:off x="0" y="5151664"/>
              <a:ext cx="416379" cy="2575832"/>
            </a:xfrm>
            <a:prstGeom prst="rect">
              <a:avLst/>
            </a:prstGeom>
            <a:solidFill>
              <a:srgbClr val="A3CED6"/>
            </a:solidFill>
          </p:spPr>
          <p:txBody>
            <a:bodyPr/>
            <a:lstStyle/>
            <a:p>
              <a:endParaRPr lang="fr-FR" sz="900"/>
            </a:p>
          </p:txBody>
        </p:sp>
        <p:sp>
          <p:nvSpPr>
            <p:cNvPr id="16" name="AutoShape 5">
              <a:extLst>
                <a:ext uri="{FF2B5EF4-FFF2-40B4-BE49-F238E27FC236}">
                  <a16:creationId xmlns:a16="http://schemas.microsoft.com/office/drawing/2014/main" id="{05773585-A913-0393-3D68-5605861FFCCD}"/>
                </a:ext>
              </a:extLst>
            </p:cNvPr>
            <p:cNvSpPr/>
            <p:nvPr/>
          </p:nvSpPr>
          <p:spPr>
            <a:xfrm>
              <a:off x="0" y="7711168"/>
              <a:ext cx="416379" cy="2575832"/>
            </a:xfrm>
            <a:prstGeom prst="rect">
              <a:avLst/>
            </a:prstGeom>
            <a:solidFill>
              <a:srgbClr val="D9CBE4"/>
            </a:solidFill>
          </p:spPr>
          <p:txBody>
            <a:bodyPr/>
            <a:lstStyle/>
            <a:p>
              <a:endParaRPr lang="fr-FR" sz="90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B2A9FD5D-7DD2-7EF4-4D6A-7808C9783DBC}"/>
              </a:ext>
            </a:extLst>
          </p:cNvPr>
          <p:cNvSpPr txBox="1"/>
          <p:nvPr userDrawn="1"/>
        </p:nvSpPr>
        <p:spPr>
          <a:xfrm>
            <a:off x="8812699" y="1503633"/>
            <a:ext cx="338554" cy="3850734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fr-CA" sz="1000">
                <a:solidFill>
                  <a:schemeClr val="bg1">
                    <a:lumMod val="50000"/>
                    <a:lumOff val="50000"/>
                  </a:schemeClr>
                </a:solidFill>
              </a:rPr>
              <a:t>Résultats préliminaires. Ne pas partager. Ne pas citer.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D8B8A82B-C7AF-3072-4C7C-CF79DD14775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688388" y="6714067"/>
            <a:ext cx="438150" cy="76944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5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Official Use Only</a:t>
            </a:r>
          </a:p>
        </p:txBody>
      </p:sp>
    </p:spTree>
    <p:extLst>
      <p:ext uri="{BB962C8B-B14F-4D97-AF65-F5344CB8AC3E}">
        <p14:creationId xmlns:p14="http://schemas.microsoft.com/office/powerpoint/2010/main" val="27824774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txStyles>
    <p:titleStyle>
      <a:lvl1pPr algn="l" defTabSz="685835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71458" indent="-171458" algn="l" defTabSz="685835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76" indent="-171458" algn="l" defTabSz="68583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93" indent="-171458" algn="l" defTabSz="68583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10" indent="-171458" algn="l" defTabSz="68583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127" indent="-171458" algn="l" defTabSz="68583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045" indent="-171458" algn="l" defTabSz="68583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962" indent="-171458" algn="l" defTabSz="68583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878" indent="-171458" algn="l" defTabSz="68583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796" indent="-171458" algn="l" defTabSz="68583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17" algn="l" defTabSz="6858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35" algn="l" defTabSz="6858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52" algn="l" defTabSz="6858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8" algn="l" defTabSz="6858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86" algn="l" defTabSz="6858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503" algn="l" defTabSz="6858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420" algn="l" defTabSz="6858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337" algn="l" defTabSz="68583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5016D6-4668-94E2-5829-F952F05A4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02D31-A426-8F41-CE79-E025E87F1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20721-35F6-0856-EA39-C9BABF73A2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315E7-FC1C-4173-AD7B-15E9E80BEE38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4B27E-C947-5EE3-57AD-C3A603BFD0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A289D-0732-D86C-FFF5-D0F7AD9BC4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40E43B-8787-4714-941B-E3D77E4CFF17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88F1B6-5532-452C-2882-6DE26A6CD456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460581" y="6642100"/>
            <a:ext cx="657225" cy="115416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5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Official Use Only</a:t>
            </a:r>
          </a:p>
        </p:txBody>
      </p:sp>
    </p:spTree>
    <p:extLst>
      <p:ext uri="{BB962C8B-B14F-4D97-AF65-F5344CB8AC3E}">
        <p14:creationId xmlns:p14="http://schemas.microsoft.com/office/powerpoint/2010/main" val="1995764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9383" y="2302669"/>
            <a:ext cx="7772400" cy="147002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Evaluation CEQ - Madagascar</a:t>
            </a:r>
            <a:endParaRPr b="1" dirty="0">
              <a:solidFill>
                <a:srgbClr val="00206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0863" y="5836444"/>
            <a:ext cx="1850231" cy="470696"/>
          </a:xfrm>
        </p:spPr>
        <p:txBody>
          <a:bodyPr>
            <a:normAutofit fontScale="92500"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03 Mars 2026</a:t>
            </a:r>
            <a:endParaRPr sz="2400" b="1" dirty="0">
              <a:solidFill>
                <a:srgbClr val="002060"/>
              </a:solidFill>
            </a:endParaRPr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6D7F5864-0A58-C0EE-5026-8AAD9F38A28E}"/>
              </a:ext>
            </a:extLst>
          </p:cNvPr>
          <p:cNvSpPr/>
          <p:nvPr/>
        </p:nvSpPr>
        <p:spPr>
          <a:xfrm>
            <a:off x="4836319" y="286375"/>
            <a:ext cx="3914775" cy="756613"/>
          </a:xfrm>
          <a:custGeom>
            <a:avLst/>
            <a:gdLst/>
            <a:ahLst/>
            <a:cxnLst/>
            <a:rect l="l" t="t" r="r" b="b"/>
            <a:pathLst>
              <a:path w="5358341" h="1062738">
                <a:moveTo>
                  <a:pt x="0" y="0"/>
                </a:moveTo>
                <a:lnTo>
                  <a:pt x="5358341" y="0"/>
                </a:lnTo>
                <a:lnTo>
                  <a:pt x="5358341" y="1062738"/>
                </a:lnTo>
                <a:lnTo>
                  <a:pt x="0" y="1062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defTabSz="609630">
              <a:defRPr/>
            </a:pPr>
            <a:endParaRPr lang="en-PK" sz="120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EA34D868-8065-BE46-8561-B8CFBB25BEE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59280" y="1643511"/>
            <a:ext cx="8755468" cy="50490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marL="171458" indent="-171458" algn="just" defTabSz="685835" fontAlgn="base">
              <a:lnSpc>
                <a:spcPct val="95000"/>
              </a:lnSpc>
              <a:spcBef>
                <a:spcPts val="450"/>
              </a:spcBef>
              <a:spcAft>
                <a:spcPts val="450"/>
              </a:spcAft>
              <a:buClr>
                <a:srgbClr val="0BD0D9"/>
              </a:buClr>
              <a:buFont typeface="Arial" panose="020B0604020202020204" pitchFamily="34" charset="0"/>
              <a:buChar char="•"/>
            </a:pPr>
            <a:r>
              <a:rPr lang="fr-FR" altLang="fr-FR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CEQ (</a:t>
            </a:r>
            <a:r>
              <a:rPr lang="fr-FR" altLang="fr-FR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Commitment</a:t>
            </a:r>
            <a:r>
              <a:rPr lang="fr-FR" altLang="fr-FR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fr-FR" altLang="fr-FR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Equity</a:t>
            </a:r>
            <a:r>
              <a:rPr lang="fr-FR" altLang="fr-FR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est </a:t>
            </a:r>
            <a:r>
              <a:rPr lang="fr-FR" altLang="fr-FR" b="1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un outil analytique qui permet d’évaluer l’impact des politiques fiscales (impôts, taxes, transferts et dépenses sociales) sur la pauvreté et les inégalités.</a:t>
            </a:r>
          </a:p>
          <a:p>
            <a:pPr marL="171458" indent="-171458" algn="just" defTabSz="685835" fontAlgn="base">
              <a:lnSpc>
                <a:spcPct val="95000"/>
              </a:lnSpc>
              <a:spcBef>
                <a:spcPts val="450"/>
              </a:spcBef>
              <a:spcAft>
                <a:spcPts val="450"/>
              </a:spcAft>
              <a:buClr>
                <a:srgbClr val="0BD0D9"/>
              </a:buClr>
              <a:buFont typeface="Arial" panose="020B0604020202020204" pitchFamily="34" charset="0"/>
              <a:buChar char="•"/>
            </a:pPr>
            <a:endParaRPr lang="fr-FR" altLang="fr-FR" b="1" dirty="0">
              <a:solidFill>
                <a:srgbClr val="0070C0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171458" indent="-171458" algn="just" defTabSz="685835" fontAlgn="base">
              <a:lnSpc>
                <a:spcPct val="95000"/>
              </a:lnSpc>
              <a:spcBef>
                <a:spcPts val="450"/>
              </a:spcBef>
              <a:spcAft>
                <a:spcPts val="450"/>
              </a:spcAft>
              <a:buClr>
                <a:srgbClr val="0BD0D9"/>
              </a:buClr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21212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Le CEQ reproduit </a:t>
            </a: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une maquette du système fiscal</a:t>
            </a:r>
            <a:r>
              <a:rPr lang="fr-FR" dirty="0">
                <a:solidFill>
                  <a:srgbClr val="21212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, y compris le côté </a:t>
            </a: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revenu</a:t>
            </a:r>
            <a:r>
              <a:rPr lang="ia-Latn-001" b="1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</a:t>
            </a: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et les dépenses</a:t>
            </a:r>
            <a:r>
              <a:rPr lang="fr-FR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sociales</a:t>
            </a:r>
            <a:r>
              <a:rPr lang="fr-FR" dirty="0">
                <a:solidFill>
                  <a:srgbClr val="21212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. Cette exhaustivité permet d’évaluer et comparer différentes </a:t>
            </a:r>
            <a:r>
              <a:rPr lang="ia-Latn-001" dirty="0">
                <a:solidFill>
                  <a:srgbClr val="21212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éléments d’une réforme fiscale</a:t>
            </a:r>
            <a:r>
              <a:rPr lang="fr-FR" dirty="0">
                <a:solidFill>
                  <a:srgbClr val="21212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en même temps, en estimant les impacts </a:t>
            </a: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</a:t>
            </a:r>
            <a:r>
              <a:rPr lang="ia-Latn-001" b="1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our chaque éléments et pour le</a:t>
            </a: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fr-FR" b="1" dirty="0" err="1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syst</a:t>
            </a:r>
            <a:r>
              <a:rPr lang="ia-Latn-001" b="1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è</a:t>
            </a: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m</a:t>
            </a:r>
            <a:r>
              <a:rPr lang="ia-Latn-001" b="1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e</a:t>
            </a: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tout entier.</a:t>
            </a:r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​</a:t>
            </a:r>
          </a:p>
          <a:p>
            <a:pPr marL="171458" indent="-171458" algn="just" defTabSz="685835" fontAlgn="base">
              <a:lnSpc>
                <a:spcPct val="95000"/>
              </a:lnSpc>
              <a:spcBef>
                <a:spcPts val="450"/>
              </a:spcBef>
              <a:spcAft>
                <a:spcPts val="450"/>
              </a:spcAft>
              <a:buClr>
                <a:srgbClr val="0BD0D9"/>
              </a:buClr>
              <a:buFont typeface="Arial" panose="020B0604020202020204" pitchFamily="34" charset="0"/>
              <a:buChar char="•"/>
            </a:pPr>
            <a:endParaRPr lang="fr-FR" altLang="fr-FR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8" indent="-171458" algn="just" defTabSz="685835" fontAlgn="base">
              <a:lnSpc>
                <a:spcPct val="95000"/>
              </a:lnSpc>
              <a:spcBef>
                <a:spcPts val="450"/>
              </a:spcBef>
              <a:spcAft>
                <a:spcPts val="450"/>
              </a:spcAft>
              <a:buClr>
                <a:srgbClr val="0BD0D9"/>
              </a:buClr>
              <a:buFont typeface="Arial" panose="020B0604020202020204" pitchFamily="34" charset="0"/>
              <a:buChar char="•"/>
            </a:pPr>
            <a:r>
              <a:rPr lang="fr-FR" altLang="fr-FR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CEQ constitue ainsi un </a:t>
            </a:r>
            <a:r>
              <a:rPr lang="fr-FR" altLang="fr-F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outil d’aide à la décision pour les gouvernements, en leur permettant de mesurer le pouvoir redistributif de leur politique fiscale et son efficacité dans la réduction de la pauvreté.</a:t>
            </a:r>
          </a:p>
          <a:p>
            <a:pPr marL="171458" indent="-171458" algn="just" defTabSz="685835" fontAlgn="base">
              <a:lnSpc>
                <a:spcPct val="95000"/>
              </a:lnSpc>
              <a:spcBef>
                <a:spcPts val="450"/>
              </a:spcBef>
              <a:spcAft>
                <a:spcPts val="450"/>
              </a:spcAft>
              <a:buClr>
                <a:srgbClr val="0BD0D9"/>
              </a:buClr>
              <a:buFont typeface="Arial" panose="020B0604020202020204" pitchFamily="34" charset="0"/>
              <a:buChar char="•"/>
            </a:pPr>
            <a:endParaRPr lang="fr-FR" altLang="fr-FR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8" indent="-171458" algn="just" defTabSz="685835" fontAlgn="base">
              <a:lnSpc>
                <a:spcPct val="95000"/>
              </a:lnSpc>
              <a:spcBef>
                <a:spcPts val="450"/>
              </a:spcBef>
              <a:spcAft>
                <a:spcPts val="450"/>
              </a:spcAft>
              <a:buClr>
                <a:srgbClr val="0BD0D9"/>
              </a:buClr>
              <a:buFont typeface="Arial" panose="020B0604020202020204" pitchFamily="34" charset="0"/>
              <a:buChar char="•"/>
            </a:pPr>
            <a:r>
              <a:rPr lang="fr-FR" altLang="fr-FR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Enfin, le CEQ peut être </a:t>
            </a:r>
            <a:r>
              <a:rPr lang="fr-FR" altLang="fr-F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étendu à l’analyse des inégalités de genre, à travers le cadre E-CEQ, afin d’évaluer l’impact différencié des politiques fiscales entre femmes et hommes</a:t>
            </a:r>
            <a:r>
              <a:rPr lang="fr-FR" altLang="fr-FR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01BBD72D-154E-641A-0664-E9353A914EF2}"/>
              </a:ext>
            </a:extLst>
          </p:cNvPr>
          <p:cNvSpPr/>
          <p:nvPr/>
        </p:nvSpPr>
        <p:spPr>
          <a:xfrm>
            <a:off x="5843588" y="165413"/>
            <a:ext cx="2941108" cy="762126"/>
          </a:xfrm>
          <a:custGeom>
            <a:avLst/>
            <a:gdLst/>
            <a:ahLst/>
            <a:cxnLst/>
            <a:rect l="l" t="t" r="r" b="b"/>
            <a:pathLst>
              <a:path w="5358341" h="1062738">
                <a:moveTo>
                  <a:pt x="0" y="0"/>
                </a:moveTo>
                <a:lnTo>
                  <a:pt x="5358341" y="0"/>
                </a:lnTo>
                <a:lnTo>
                  <a:pt x="5358341" y="1062738"/>
                </a:lnTo>
                <a:lnTo>
                  <a:pt x="0" y="1062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defTabSz="457223">
              <a:defRPr/>
            </a:pPr>
            <a:endParaRPr lang="en-PK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4E43991C-F422-AB49-D234-1C7DA691E82D}"/>
              </a:ext>
            </a:extLst>
          </p:cNvPr>
          <p:cNvSpPr txBox="1"/>
          <p:nvPr/>
        </p:nvSpPr>
        <p:spPr>
          <a:xfrm>
            <a:off x="159280" y="732321"/>
            <a:ext cx="2519627" cy="6118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85800">
              <a:lnSpc>
                <a:spcPts val="5457"/>
              </a:lnSpc>
            </a:pPr>
            <a:r>
              <a:rPr lang="fr-CA" sz="2700" dirty="0">
                <a:solidFill>
                  <a:srgbClr val="002244"/>
                </a:solidFill>
                <a:latin typeface="Raleway Bold"/>
              </a:rPr>
              <a:t>Introduction</a:t>
            </a:r>
            <a:endParaRPr lang="en-US" sz="2700" dirty="0">
              <a:solidFill>
                <a:srgbClr val="002244"/>
              </a:solidFill>
              <a:latin typeface="Raleway Bold"/>
            </a:endParaRPr>
          </a:p>
        </p:txBody>
      </p:sp>
    </p:spTree>
    <p:extLst>
      <p:ext uri="{BB962C8B-B14F-4D97-AF65-F5344CB8AC3E}">
        <p14:creationId xmlns:p14="http://schemas.microsoft.com/office/powerpoint/2010/main" val="2909407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2F2A8-FADC-9BEC-01B8-3B3B07BAC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37" y="1532337"/>
            <a:ext cx="8441532" cy="5139926"/>
          </a:xfrm>
        </p:spPr>
        <p:txBody>
          <a:bodyPr>
            <a:noAutofit/>
          </a:bodyPr>
          <a:lstStyle/>
          <a:p>
            <a:pPr algn="just">
              <a:lnSpc>
                <a:spcPct val="95000"/>
              </a:lnSpc>
              <a:spcBef>
                <a:spcPts val="450"/>
              </a:spcBef>
              <a:spcAft>
                <a:spcPts val="450"/>
              </a:spcAft>
              <a:buClr>
                <a:srgbClr val="0BD0D9"/>
              </a:buClr>
            </a:pPr>
            <a:r>
              <a:rPr lang="fr-FR" sz="20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L’évaluation CEQ</a:t>
            </a:r>
            <a:r>
              <a:rPr lang="ia-Latn-001" sz="20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20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Commitment</a:t>
            </a:r>
            <a:r>
              <a:rPr lang="fr-FR" sz="20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fr-FR" sz="2000" dirty="0" err="1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Equity</a:t>
            </a:r>
            <a:r>
              <a:rPr lang="ia-Latn-001" sz="20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fr-FR" sz="20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est </a:t>
            </a:r>
            <a:r>
              <a:rPr lang="fr-F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outil permettant d’analyser l’impact des mesures fiscales (taxes, impôts, transferts, dépenses sociales)  sur les inégalités et la pauvreté</a:t>
            </a:r>
          </a:p>
          <a:p>
            <a:pPr algn="just">
              <a:lnSpc>
                <a:spcPct val="95000"/>
              </a:lnSpc>
              <a:spcBef>
                <a:spcPts val="450"/>
              </a:spcBef>
              <a:spcAft>
                <a:spcPts val="450"/>
              </a:spcAft>
              <a:buClr>
                <a:srgbClr val="0BD0D9"/>
              </a:buClr>
            </a:pPr>
            <a:endParaRPr lang="ia-Latn-001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5000"/>
              </a:lnSpc>
              <a:spcBef>
                <a:spcPts val="450"/>
              </a:spcBef>
              <a:spcAft>
                <a:spcPts val="450"/>
              </a:spcAft>
              <a:buClr>
                <a:srgbClr val="0BD0D9"/>
              </a:buClr>
            </a:pPr>
            <a:r>
              <a:rPr lang="fr-FR" sz="2000" dirty="0">
                <a:solidFill>
                  <a:srgbClr val="21212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Le CEQ reproduit </a:t>
            </a:r>
            <a:r>
              <a:rPr lang="fr-FR" sz="2000" b="1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une maquette du système fiscal</a:t>
            </a:r>
            <a:r>
              <a:rPr lang="fr-FR" sz="2000" dirty="0">
                <a:solidFill>
                  <a:srgbClr val="21212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, y compris le côté </a:t>
            </a:r>
            <a:r>
              <a:rPr lang="fr-FR" sz="2000" b="1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revenu</a:t>
            </a:r>
            <a:r>
              <a:rPr lang="ia-Latn-001" sz="2000" b="1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</a:t>
            </a:r>
            <a:r>
              <a:rPr lang="fr-FR" sz="2000" b="1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et les dépenses</a:t>
            </a:r>
            <a:r>
              <a:rPr lang="fr-FR" sz="2000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fr-FR" sz="2000" b="1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sociales</a:t>
            </a:r>
            <a:r>
              <a:rPr lang="fr-FR" sz="2000" dirty="0">
                <a:solidFill>
                  <a:srgbClr val="21212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. Cette exhaustivité permet d’évaluer et comparer différentes </a:t>
            </a:r>
            <a:r>
              <a:rPr lang="ia-Latn-001" sz="2000" dirty="0">
                <a:solidFill>
                  <a:srgbClr val="21212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éléments d’une réforme fiscale</a:t>
            </a:r>
            <a:r>
              <a:rPr lang="fr-FR" sz="2000" dirty="0">
                <a:solidFill>
                  <a:srgbClr val="21212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en même temps, en estimant les impacts </a:t>
            </a:r>
            <a:r>
              <a:rPr lang="fr-FR" sz="2000" b="1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</a:t>
            </a:r>
            <a:r>
              <a:rPr lang="ia-Latn-001" sz="2000" b="1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our chaque éléments et pour le</a:t>
            </a:r>
            <a:r>
              <a:rPr lang="fr-FR" sz="2000" b="1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syst</a:t>
            </a:r>
            <a:r>
              <a:rPr lang="ia-Latn-001" sz="2000" b="1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è</a:t>
            </a:r>
            <a:r>
              <a:rPr lang="fr-FR" sz="2000" b="1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m</a:t>
            </a:r>
            <a:r>
              <a:rPr lang="ia-Latn-001" sz="2000" b="1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e</a:t>
            </a:r>
            <a:r>
              <a:rPr lang="fr-FR" sz="2000" b="1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tout entier.</a:t>
            </a:r>
            <a:r>
              <a:rPr lang="fr-FR" sz="2000" b="1" dirty="0">
                <a:solidFill>
                  <a:srgbClr val="C0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​</a:t>
            </a:r>
          </a:p>
          <a:p>
            <a:pPr algn="just">
              <a:lnSpc>
                <a:spcPct val="95000"/>
              </a:lnSpc>
              <a:spcBef>
                <a:spcPts val="450"/>
              </a:spcBef>
              <a:spcAft>
                <a:spcPts val="450"/>
              </a:spcAft>
              <a:buClr>
                <a:srgbClr val="0BD0D9"/>
              </a:buClr>
            </a:pPr>
            <a:endParaRPr lang="fr-FR" sz="2000" b="1" dirty="0">
              <a:solidFill>
                <a:srgbClr val="C00000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257175" indent="-257175" algn="just">
              <a:lnSpc>
                <a:spcPct val="95000"/>
              </a:lnSpc>
              <a:spcBef>
                <a:spcPts val="450"/>
              </a:spcBef>
              <a:spcAft>
                <a:spcPts val="450"/>
              </a:spcAft>
              <a:buClr>
                <a:srgbClr val="0BD0D9"/>
              </a:buClr>
            </a:pPr>
            <a:r>
              <a:rPr lang="ia-Latn-001" sz="20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CEQ </a:t>
            </a:r>
            <a:r>
              <a:rPr lang="fr-FR" sz="20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permet aux gouvernements d’évaluer l’impact redistributif et de réduction de la pauvreté de leur politique fiscale. </a:t>
            </a:r>
          </a:p>
          <a:p>
            <a:pPr marL="257175" indent="-257175" algn="just">
              <a:lnSpc>
                <a:spcPct val="95000"/>
              </a:lnSpc>
              <a:spcBef>
                <a:spcPts val="450"/>
              </a:spcBef>
              <a:spcAft>
                <a:spcPts val="450"/>
              </a:spcAft>
              <a:buClr>
                <a:srgbClr val="0BD0D9"/>
              </a:buClr>
            </a:pPr>
            <a:endParaRPr lang="fr-FR" sz="2000" dirty="0">
              <a:solidFill>
                <a:srgbClr val="2121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lnSpc>
                <a:spcPct val="95000"/>
              </a:lnSpc>
              <a:spcBef>
                <a:spcPts val="450"/>
              </a:spcBef>
              <a:spcAft>
                <a:spcPts val="450"/>
              </a:spcAft>
              <a:buClr>
                <a:srgbClr val="0BD0D9"/>
              </a:buClr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Le CEQ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peut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aussi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être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utilisée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pour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analyser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l’impact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des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mesures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fiscales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sur les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disparités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entre </a:t>
            </a:r>
            <a:r>
              <a:rPr lang="en-US" sz="3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femmes et hommes (E-CEQ). </a:t>
            </a:r>
            <a:endParaRPr lang="ia-Latn-001" sz="3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3EC24B08-5100-B815-805F-69E5A8CDCB17}"/>
              </a:ext>
            </a:extLst>
          </p:cNvPr>
          <p:cNvSpPr/>
          <p:nvPr/>
        </p:nvSpPr>
        <p:spPr>
          <a:xfrm>
            <a:off x="6126957" y="158240"/>
            <a:ext cx="2679170" cy="712120"/>
          </a:xfrm>
          <a:custGeom>
            <a:avLst/>
            <a:gdLst/>
            <a:ahLst/>
            <a:cxnLst/>
            <a:rect l="l" t="t" r="r" b="b"/>
            <a:pathLst>
              <a:path w="5358341" h="1062738">
                <a:moveTo>
                  <a:pt x="0" y="0"/>
                </a:moveTo>
                <a:lnTo>
                  <a:pt x="5358341" y="0"/>
                </a:lnTo>
                <a:lnTo>
                  <a:pt x="5358341" y="1062738"/>
                </a:lnTo>
                <a:lnTo>
                  <a:pt x="0" y="1062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defTabSz="457223">
              <a:defRPr/>
            </a:pPr>
            <a:endParaRPr lang="en-PK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FC56F2D-A8B1-42B2-BBA0-B475164BC2B4}"/>
              </a:ext>
            </a:extLst>
          </p:cNvPr>
          <p:cNvSpPr txBox="1"/>
          <p:nvPr/>
        </p:nvSpPr>
        <p:spPr>
          <a:xfrm>
            <a:off x="159280" y="777628"/>
            <a:ext cx="2519627" cy="6118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85800">
              <a:lnSpc>
                <a:spcPts val="5457"/>
              </a:lnSpc>
            </a:pPr>
            <a:r>
              <a:rPr lang="fr-CA" sz="2700" dirty="0">
                <a:solidFill>
                  <a:srgbClr val="002244"/>
                </a:solidFill>
                <a:latin typeface="Raleway Bold"/>
              </a:rPr>
              <a:t>Introduction</a:t>
            </a:r>
            <a:endParaRPr lang="en-US" sz="2700" dirty="0">
              <a:solidFill>
                <a:srgbClr val="002244"/>
              </a:solidFill>
              <a:latin typeface="Raleway Bold"/>
            </a:endParaRPr>
          </a:p>
        </p:txBody>
      </p:sp>
    </p:spTree>
    <p:extLst>
      <p:ext uri="{BB962C8B-B14F-4D97-AF65-F5344CB8AC3E}">
        <p14:creationId xmlns:p14="http://schemas.microsoft.com/office/powerpoint/2010/main" val="3896491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4">
            <a:extLst>
              <a:ext uri="{FF2B5EF4-FFF2-40B4-BE49-F238E27FC236}">
                <a16:creationId xmlns:a16="http://schemas.microsoft.com/office/drawing/2014/main" id="{452D5D20-919A-4AE2-87ED-C3B39DD22E84}"/>
              </a:ext>
            </a:extLst>
          </p:cNvPr>
          <p:cNvSpPr txBox="1"/>
          <p:nvPr/>
        </p:nvSpPr>
        <p:spPr>
          <a:xfrm>
            <a:off x="285750" y="1276204"/>
            <a:ext cx="8634677" cy="535018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lIns="68580" tIns="34290" rIns="68580" bIns="34290" rtlCol="0" anchor="t">
            <a:spAutoFit/>
          </a:bodyPr>
          <a:lstStyle/>
          <a:p>
            <a:pPr defTabSz="685800">
              <a:spcBef>
                <a:spcPts val="450"/>
              </a:spcBef>
              <a:spcAft>
                <a:spcPts val="450"/>
              </a:spcAft>
              <a:defRPr/>
            </a:pPr>
            <a:r>
              <a:rPr lang="fr-F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Taxes directes</a:t>
            </a:r>
          </a:p>
          <a:p>
            <a:pPr marL="645319" indent="-85725" defTabSz="685800">
              <a:spcBef>
                <a:spcPts val="450"/>
              </a:spcBef>
              <a:spcAft>
                <a:spcPts val="450"/>
              </a:spcAft>
              <a:buFont typeface="Wingdings" panose="05000000000000000000" pitchFamily="2" charset="2"/>
              <a:buChar char="§"/>
            </a:pPr>
            <a:r>
              <a:rPr lang="fr-F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Impôts sur le Revenu des Personnes Physiques et Morales </a:t>
            </a:r>
            <a:r>
              <a:rPr lang="fr-FR" sz="1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Impôts sur les Revenus Salariaux et Assimilés ; Impôts sur les Revenus des Capitaux Mobiliers ; </a:t>
            </a:r>
            <a:r>
              <a:rPr lang="fr-F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Droits d’Enregistrement</a:t>
            </a:r>
          </a:p>
          <a:p>
            <a:pPr marL="645319" indent="-85725" defTabSz="685800">
              <a:spcBef>
                <a:spcPts val="450"/>
              </a:spcBef>
              <a:spcAft>
                <a:spcPts val="450"/>
              </a:spcAft>
              <a:buFont typeface="Wingdings" panose="05000000000000000000" pitchFamily="2" charset="2"/>
              <a:buChar char="§"/>
              <a:defRPr/>
            </a:pPr>
            <a:r>
              <a:rPr lang="fr-FR" sz="1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Cotisations sociales et Pensions</a:t>
            </a:r>
          </a:p>
          <a:p>
            <a:pPr defTabSz="685800">
              <a:spcBef>
                <a:spcPts val="450"/>
              </a:spcBef>
              <a:spcAft>
                <a:spcPts val="450"/>
              </a:spcAft>
              <a:defRPr/>
            </a:pPr>
            <a:r>
              <a:rPr lang="fr-F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Taxes indirectes</a:t>
            </a:r>
          </a:p>
          <a:p>
            <a:pPr marL="645319" indent="-85725" defTabSz="685800">
              <a:spcBef>
                <a:spcPts val="450"/>
              </a:spcBef>
              <a:spcAft>
                <a:spcPts val="450"/>
              </a:spcAft>
              <a:buFont typeface="Wingdings" panose="05000000000000000000" pitchFamily="2" charset="2"/>
              <a:buChar char="§"/>
              <a:defRPr/>
            </a:pPr>
            <a:r>
              <a:rPr lang="fr-FR" sz="1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TVA</a:t>
            </a:r>
          </a:p>
          <a:p>
            <a:pPr marL="645319" indent="-85725" defTabSz="685800">
              <a:spcBef>
                <a:spcPts val="450"/>
              </a:spcBef>
              <a:spcAft>
                <a:spcPts val="450"/>
              </a:spcAft>
              <a:buFont typeface="Wingdings" panose="05000000000000000000" pitchFamily="2" charset="2"/>
              <a:buChar char="§"/>
              <a:defRPr/>
            </a:pPr>
            <a:r>
              <a:rPr lang="fr-FR" sz="1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Droit de douane</a:t>
            </a:r>
          </a:p>
          <a:p>
            <a:pPr marL="645319" indent="-85725" defTabSz="685800">
              <a:spcBef>
                <a:spcPts val="450"/>
              </a:spcBef>
              <a:spcAft>
                <a:spcPts val="450"/>
              </a:spcAft>
              <a:buFont typeface="Wingdings" panose="05000000000000000000" pitchFamily="2" charset="2"/>
              <a:buChar char="§"/>
              <a:defRPr/>
            </a:pPr>
            <a:r>
              <a:rPr lang="fr-FR" sz="1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Droit d’assise</a:t>
            </a:r>
            <a:endParaRPr lang="fr-FR" sz="135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685800">
              <a:spcBef>
                <a:spcPts val="450"/>
              </a:spcBef>
              <a:spcAft>
                <a:spcPts val="450"/>
              </a:spcAft>
              <a:defRPr/>
            </a:pPr>
            <a:r>
              <a:rPr lang="fr-FR" sz="1350" b="1" dirty="0">
                <a:solidFill>
                  <a:srgbClr val="70AD47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Transferts directs</a:t>
            </a:r>
          </a:p>
          <a:p>
            <a:pPr marL="645319" indent="-85725" defTabSz="685800">
              <a:spcBef>
                <a:spcPts val="450"/>
              </a:spcBef>
              <a:spcAft>
                <a:spcPts val="450"/>
              </a:spcAft>
              <a:buFont typeface="Wingdings" panose="05000000000000000000" pitchFamily="2" charset="2"/>
              <a:buChar char="§"/>
              <a:defRPr/>
            </a:pPr>
            <a:r>
              <a:rPr lang="fr-FR" sz="1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Filets sociaux</a:t>
            </a:r>
          </a:p>
          <a:p>
            <a:pPr marL="645319" indent="-85725" defTabSz="685800">
              <a:spcBef>
                <a:spcPts val="450"/>
              </a:spcBef>
              <a:spcAft>
                <a:spcPts val="450"/>
              </a:spcAft>
              <a:buFont typeface="Wingdings" panose="05000000000000000000" pitchFamily="2" charset="2"/>
              <a:buChar char="§"/>
              <a:defRPr/>
            </a:pPr>
            <a:r>
              <a:rPr lang="fr-FR" sz="1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Prestations sociales</a:t>
            </a:r>
            <a:endParaRPr lang="en" sz="14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685800">
              <a:spcBef>
                <a:spcPts val="450"/>
              </a:spcBef>
              <a:spcAft>
                <a:spcPts val="450"/>
              </a:spcAft>
              <a:defRPr/>
            </a:pPr>
            <a:r>
              <a:rPr lang="fr-FR" sz="1350" b="1" dirty="0">
                <a:solidFill>
                  <a:srgbClr val="70AD47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Subventions indirectes</a:t>
            </a:r>
          </a:p>
          <a:p>
            <a:pPr marL="645319" indent="-85725" defTabSz="685800">
              <a:spcBef>
                <a:spcPts val="450"/>
              </a:spcBef>
              <a:spcAft>
                <a:spcPts val="450"/>
              </a:spcAft>
              <a:buFont typeface="Wingdings" panose="05000000000000000000" pitchFamily="2" charset="2"/>
              <a:buChar char="§"/>
              <a:defRPr/>
            </a:pPr>
            <a:r>
              <a:rPr lang="fr-FR" sz="1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Carburant, Electricité</a:t>
            </a:r>
          </a:p>
          <a:p>
            <a:pPr defTabSz="685800">
              <a:spcBef>
                <a:spcPts val="450"/>
              </a:spcBef>
              <a:spcAft>
                <a:spcPts val="450"/>
              </a:spcAft>
              <a:defRPr/>
            </a:pPr>
            <a:r>
              <a:rPr lang="fr-FR" sz="1350" b="1" dirty="0">
                <a:solidFill>
                  <a:srgbClr val="70AD47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Transferts en nature</a:t>
            </a:r>
          </a:p>
          <a:p>
            <a:pPr marL="645319" indent="-85725" defTabSz="685800">
              <a:spcBef>
                <a:spcPts val="450"/>
              </a:spcBef>
              <a:spcAft>
                <a:spcPts val="450"/>
              </a:spcAft>
              <a:buFont typeface="Wingdings" panose="05000000000000000000" pitchFamily="2" charset="2"/>
              <a:buChar char="§"/>
              <a:defRPr/>
            </a:pPr>
            <a:r>
              <a:rPr lang="fr-FR" sz="1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</a:p>
          <a:p>
            <a:pPr marL="645319" indent="-85725" defTabSz="685800">
              <a:spcBef>
                <a:spcPts val="450"/>
              </a:spcBef>
              <a:spcAft>
                <a:spcPts val="450"/>
              </a:spcAft>
              <a:buFont typeface="Wingdings" panose="05000000000000000000" pitchFamily="2" charset="2"/>
              <a:buChar char="§"/>
              <a:defRPr/>
            </a:pPr>
            <a:r>
              <a:rPr lang="fr-FR" sz="1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Santé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3FB9A0-8F63-A6CA-2B52-E291F8CAA09E}"/>
              </a:ext>
            </a:extLst>
          </p:cNvPr>
          <p:cNvSpPr txBox="1"/>
          <p:nvPr/>
        </p:nvSpPr>
        <p:spPr>
          <a:xfrm>
            <a:off x="0" y="417127"/>
            <a:ext cx="6562989" cy="602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85800">
              <a:lnSpc>
                <a:spcPts val="5457"/>
              </a:lnSpc>
            </a:pPr>
            <a:r>
              <a:rPr lang="fr-CA" sz="2400" dirty="0">
                <a:solidFill>
                  <a:srgbClr val="002244"/>
                </a:solidFill>
                <a:latin typeface="Raleway Bold"/>
              </a:rPr>
              <a:t>Instruments fiscaux inclus dans l’analyse</a:t>
            </a:r>
            <a:endParaRPr lang="en-US" sz="2400" dirty="0">
              <a:solidFill>
                <a:srgbClr val="002244"/>
              </a:solidFill>
              <a:latin typeface="Raleway Bold"/>
            </a:endParaRPr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A8B07AE8-E914-E4D6-61CD-4BEAA9A84BD6}"/>
              </a:ext>
            </a:extLst>
          </p:cNvPr>
          <p:cNvSpPr/>
          <p:nvPr/>
        </p:nvSpPr>
        <p:spPr>
          <a:xfrm>
            <a:off x="6562989" y="149843"/>
            <a:ext cx="2357438" cy="534567"/>
          </a:xfrm>
          <a:custGeom>
            <a:avLst/>
            <a:gdLst/>
            <a:ahLst/>
            <a:cxnLst/>
            <a:rect l="l" t="t" r="r" b="b"/>
            <a:pathLst>
              <a:path w="5358341" h="1062738">
                <a:moveTo>
                  <a:pt x="0" y="0"/>
                </a:moveTo>
                <a:lnTo>
                  <a:pt x="5358341" y="0"/>
                </a:lnTo>
                <a:lnTo>
                  <a:pt x="5358341" y="1062738"/>
                </a:lnTo>
                <a:lnTo>
                  <a:pt x="0" y="10627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defTabSz="457223">
              <a:defRPr/>
            </a:pPr>
            <a:endParaRPr lang="en-PK" sz="900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37429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056EB-3B61-069B-023D-513386187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EBF2B-971C-F8FD-B6A2-AA814FE7F0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7965" y="2767012"/>
            <a:ext cx="7772400" cy="1470025"/>
          </a:xfrm>
        </p:spPr>
        <p:txBody>
          <a:bodyPr>
            <a:normAutofit fontScale="90000"/>
          </a:bodyPr>
          <a:lstStyle/>
          <a:p>
            <a:r>
              <a:rPr b="1" dirty="0" err="1">
                <a:solidFill>
                  <a:srgbClr val="002060"/>
                </a:solidFill>
              </a:rPr>
              <a:t>Impôts</a:t>
            </a:r>
            <a:r>
              <a:rPr b="1" dirty="0">
                <a:solidFill>
                  <a:srgbClr val="002060"/>
                </a:solidFill>
              </a:rPr>
              <a:t> Directs : Cadre </a:t>
            </a:r>
            <a:r>
              <a:rPr b="1" dirty="0" err="1">
                <a:solidFill>
                  <a:srgbClr val="002060"/>
                </a:solidFill>
              </a:rPr>
              <a:t>Théorique</a:t>
            </a:r>
            <a:r>
              <a:rPr b="1" dirty="0">
                <a:solidFill>
                  <a:srgbClr val="002060"/>
                </a:solidFill>
              </a:rPr>
              <a:t> et </a:t>
            </a:r>
            <a:r>
              <a:rPr b="1" dirty="0" err="1">
                <a:solidFill>
                  <a:srgbClr val="002060"/>
                </a:solidFill>
              </a:rPr>
              <a:t>Résultats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b="1" dirty="0" err="1">
                <a:solidFill>
                  <a:srgbClr val="002060"/>
                </a:solidFill>
              </a:rPr>
              <a:t>Empiriques</a:t>
            </a:r>
            <a:endParaRPr b="1" dirty="0">
              <a:solidFill>
                <a:srgbClr val="002060"/>
              </a:solidFill>
            </a:endParaRPr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DC6927A9-204C-8112-7C7E-1F67A6ECFC27}"/>
              </a:ext>
            </a:extLst>
          </p:cNvPr>
          <p:cNvSpPr/>
          <p:nvPr/>
        </p:nvSpPr>
        <p:spPr>
          <a:xfrm>
            <a:off x="6126957" y="158240"/>
            <a:ext cx="2679170" cy="712120"/>
          </a:xfrm>
          <a:custGeom>
            <a:avLst/>
            <a:gdLst/>
            <a:ahLst/>
            <a:cxnLst/>
            <a:rect l="l" t="t" r="r" b="b"/>
            <a:pathLst>
              <a:path w="5358341" h="1062738">
                <a:moveTo>
                  <a:pt x="0" y="0"/>
                </a:moveTo>
                <a:lnTo>
                  <a:pt x="5358341" y="0"/>
                </a:lnTo>
                <a:lnTo>
                  <a:pt x="5358341" y="1062738"/>
                </a:lnTo>
                <a:lnTo>
                  <a:pt x="0" y="1062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defTabSz="457223">
              <a:defRPr/>
            </a:pPr>
            <a:endParaRPr lang="en-PK" sz="900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5152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82" y="870360"/>
            <a:ext cx="6322218" cy="661193"/>
          </a:xfrm>
        </p:spPr>
        <p:txBody>
          <a:bodyPr>
            <a:normAutofit/>
          </a:bodyPr>
          <a:lstStyle/>
          <a:p>
            <a:r>
              <a:rPr sz="3600" dirty="0">
                <a:solidFill>
                  <a:srgbClr val="002060"/>
                </a:solidFill>
              </a:rPr>
              <a:t>1. </a:t>
            </a:r>
            <a:r>
              <a:rPr sz="3600" b="1" dirty="0" err="1">
                <a:solidFill>
                  <a:srgbClr val="002060"/>
                </a:solidFill>
              </a:rPr>
              <a:t>Définition</a:t>
            </a:r>
            <a:r>
              <a:rPr sz="3600" b="1" dirty="0">
                <a:solidFill>
                  <a:srgbClr val="002060"/>
                </a:solidFill>
              </a:rPr>
              <a:t> des </a:t>
            </a:r>
            <a:r>
              <a:rPr sz="3600" b="1" dirty="0" err="1">
                <a:solidFill>
                  <a:srgbClr val="002060"/>
                </a:solidFill>
              </a:rPr>
              <a:t>Impôts</a:t>
            </a:r>
            <a:r>
              <a:rPr sz="3600" b="1" dirty="0">
                <a:solidFill>
                  <a:srgbClr val="002060"/>
                </a:solidFill>
              </a:rPr>
              <a:t> Directs</a:t>
            </a:r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AC111B12-4707-1FA4-A8B2-97851A0CD3F4}"/>
              </a:ext>
            </a:extLst>
          </p:cNvPr>
          <p:cNvSpPr/>
          <p:nvPr/>
        </p:nvSpPr>
        <p:spPr>
          <a:xfrm>
            <a:off x="6750843" y="158240"/>
            <a:ext cx="2055283" cy="712120"/>
          </a:xfrm>
          <a:custGeom>
            <a:avLst/>
            <a:gdLst/>
            <a:ahLst/>
            <a:cxnLst/>
            <a:rect l="l" t="t" r="r" b="b"/>
            <a:pathLst>
              <a:path w="5358341" h="1062738">
                <a:moveTo>
                  <a:pt x="0" y="0"/>
                </a:moveTo>
                <a:lnTo>
                  <a:pt x="5358341" y="0"/>
                </a:lnTo>
                <a:lnTo>
                  <a:pt x="5358341" y="1062738"/>
                </a:lnTo>
                <a:lnTo>
                  <a:pt x="0" y="1062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defTabSz="457223">
              <a:defRPr/>
            </a:pPr>
            <a:endParaRPr lang="en-PK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F38866F-2EDE-10FB-6EC0-45323AC341B9}"/>
              </a:ext>
            </a:extLst>
          </p:cNvPr>
          <p:cNvSpPr txBox="1"/>
          <p:nvPr/>
        </p:nvSpPr>
        <p:spPr>
          <a:xfrm>
            <a:off x="464344" y="1595021"/>
            <a:ext cx="849391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/>
              <a:t>Les impôts directs sont prélevés directement sur le revenu. Ils ne sont pas transférables a un tiers.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/>
              <a:t>Nous retenons 2 types d’impôts directs (</a:t>
            </a:r>
            <a:r>
              <a:rPr lang="fr-FR" sz="2800" b="1" i="1" dirty="0">
                <a:solidFill>
                  <a:srgbClr val="0070C0"/>
                </a:solidFill>
              </a:rPr>
              <a:t>IRSA</a:t>
            </a:r>
            <a:r>
              <a:rPr lang="fr-FR" sz="2800" dirty="0"/>
              <a:t> prélevé sur les revenus salariaux et l’</a:t>
            </a:r>
            <a:r>
              <a:rPr lang="fr-FR" sz="2800" b="1" i="1" dirty="0">
                <a:solidFill>
                  <a:srgbClr val="0070C0"/>
                </a:solidFill>
              </a:rPr>
              <a:t>IRCM</a:t>
            </a:r>
            <a:r>
              <a:rPr lang="fr-FR" sz="2800" dirty="0"/>
              <a:t> appliqué sur les revenus des capitaux mobiliers)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/>
              <a:t>Nous avons aussi des </a:t>
            </a:r>
            <a:r>
              <a:rPr lang="fr-FR" sz="2800" b="1" i="1" dirty="0">
                <a:solidFill>
                  <a:srgbClr val="0070C0"/>
                </a:solidFill>
              </a:rPr>
              <a:t>prélèvements pour le compte de la sécurité sociale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/>
              <a:t>Et enfin la </a:t>
            </a:r>
            <a:r>
              <a:rPr lang="fr-FR" sz="2800" b="1" i="1" dirty="0">
                <a:solidFill>
                  <a:srgbClr val="0070C0"/>
                </a:solidFill>
              </a:rPr>
              <a:t>pension de retraite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450" y="724694"/>
            <a:ext cx="5293519" cy="822324"/>
          </a:xfrm>
        </p:spPr>
        <p:txBody>
          <a:bodyPr>
            <a:normAutofit/>
          </a:bodyPr>
          <a:lstStyle/>
          <a:p>
            <a:r>
              <a:rPr sz="3600" b="1" dirty="0">
                <a:solidFill>
                  <a:srgbClr val="002060"/>
                </a:solidFill>
              </a:rPr>
              <a:t>2. </a:t>
            </a:r>
            <a:r>
              <a:rPr sz="3600" b="1" dirty="0" err="1">
                <a:solidFill>
                  <a:srgbClr val="002060"/>
                </a:solidFill>
              </a:rPr>
              <a:t>Fondements</a:t>
            </a:r>
            <a:r>
              <a:rPr sz="3600" b="1" dirty="0">
                <a:solidFill>
                  <a:srgbClr val="002060"/>
                </a:solidFill>
              </a:rPr>
              <a:t> </a:t>
            </a:r>
            <a:r>
              <a:rPr sz="3600" b="1" dirty="0" err="1">
                <a:solidFill>
                  <a:srgbClr val="002060"/>
                </a:solidFill>
              </a:rPr>
              <a:t>Théoriques</a:t>
            </a:r>
            <a:endParaRPr sz="3600" b="1" dirty="0">
              <a:solidFill>
                <a:srgbClr val="002060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16433FB-93F2-5F1C-9E08-C96911924B21}"/>
              </a:ext>
            </a:extLst>
          </p:cNvPr>
          <p:cNvSpPr txBox="1"/>
          <p:nvPr/>
        </p:nvSpPr>
        <p:spPr>
          <a:xfrm>
            <a:off x="1378744" y="1728788"/>
            <a:ext cx="67508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/>
              <a:t>Principe de capacité contributive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/>
              <a:t>Progressivité fiscale pour l’IRSA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/>
              <a:t>Taux de formalité de 100% sur les revenus salariaux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409718F-40BD-E914-C17B-19B4DB17F380}"/>
              </a:ext>
            </a:extLst>
          </p:cNvPr>
          <p:cNvSpPr/>
          <p:nvPr/>
        </p:nvSpPr>
        <p:spPr>
          <a:xfrm>
            <a:off x="6750843" y="158240"/>
            <a:ext cx="2055283" cy="712120"/>
          </a:xfrm>
          <a:custGeom>
            <a:avLst/>
            <a:gdLst/>
            <a:ahLst/>
            <a:cxnLst/>
            <a:rect l="l" t="t" r="r" b="b"/>
            <a:pathLst>
              <a:path w="5358341" h="1062738">
                <a:moveTo>
                  <a:pt x="0" y="0"/>
                </a:moveTo>
                <a:lnTo>
                  <a:pt x="5358341" y="0"/>
                </a:lnTo>
                <a:lnTo>
                  <a:pt x="5358341" y="1062738"/>
                </a:lnTo>
                <a:lnTo>
                  <a:pt x="0" y="1062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defTabSz="457223">
              <a:defRPr/>
            </a:pPr>
            <a:endParaRPr lang="en-PK" sz="90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881" y="760413"/>
            <a:ext cx="8815388" cy="1143000"/>
          </a:xfrm>
        </p:spPr>
        <p:txBody>
          <a:bodyPr>
            <a:noAutofit/>
          </a:bodyPr>
          <a:lstStyle/>
          <a:p>
            <a:r>
              <a:rPr sz="3600" dirty="0"/>
              <a:t>3. </a:t>
            </a:r>
            <a:r>
              <a:rPr sz="3600" b="1" dirty="0">
                <a:solidFill>
                  <a:srgbClr val="002060"/>
                </a:solidFill>
              </a:rPr>
              <a:t>Structure des </a:t>
            </a:r>
            <a:r>
              <a:rPr sz="3600" b="1" dirty="0" err="1">
                <a:solidFill>
                  <a:srgbClr val="002060"/>
                </a:solidFill>
              </a:rPr>
              <a:t>Impôts</a:t>
            </a:r>
            <a:r>
              <a:rPr sz="3600" b="1" dirty="0">
                <a:solidFill>
                  <a:srgbClr val="002060"/>
                </a:solidFill>
              </a:rPr>
              <a:t> Directs (Madagascar)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21720"/>
            <a:ext cx="8229600" cy="3557588"/>
          </a:xfrm>
        </p:spPr>
        <p:txBody>
          <a:bodyPr/>
          <a:lstStyle/>
          <a:p>
            <a:r>
              <a:rPr dirty="0"/>
              <a:t>IRSA : </a:t>
            </a:r>
            <a:r>
              <a:rPr dirty="0" err="1"/>
              <a:t>Impôt</a:t>
            </a:r>
            <a:r>
              <a:rPr dirty="0"/>
              <a:t> </a:t>
            </a:r>
            <a:r>
              <a:rPr dirty="0" err="1"/>
              <a:t>progressif</a:t>
            </a:r>
            <a:r>
              <a:rPr dirty="0"/>
              <a:t> sur les </a:t>
            </a:r>
            <a:r>
              <a:rPr dirty="0" err="1"/>
              <a:t>revenus</a:t>
            </a:r>
            <a:r>
              <a:rPr dirty="0"/>
              <a:t> </a:t>
            </a:r>
            <a:r>
              <a:rPr dirty="0" err="1"/>
              <a:t>salariaux</a:t>
            </a:r>
            <a:endParaRPr dirty="0"/>
          </a:p>
          <a:p>
            <a:r>
              <a:rPr dirty="0"/>
              <a:t>IRCM : </a:t>
            </a:r>
            <a:r>
              <a:rPr dirty="0" err="1"/>
              <a:t>Taux</a:t>
            </a:r>
            <a:r>
              <a:rPr dirty="0"/>
              <a:t> </a:t>
            </a:r>
            <a:r>
              <a:rPr dirty="0" err="1"/>
              <a:t>proportionnel</a:t>
            </a:r>
            <a:r>
              <a:rPr dirty="0"/>
              <a:t> (20%)</a:t>
            </a:r>
          </a:p>
          <a:p>
            <a:r>
              <a:rPr dirty="0" err="1"/>
              <a:t>Cotisations</a:t>
            </a:r>
            <a:r>
              <a:rPr dirty="0"/>
              <a:t> </a:t>
            </a:r>
            <a:r>
              <a:rPr dirty="0" err="1"/>
              <a:t>sociales</a:t>
            </a:r>
            <a:r>
              <a:rPr dirty="0"/>
              <a:t> : </a:t>
            </a:r>
            <a:r>
              <a:rPr dirty="0" err="1"/>
              <a:t>Financement</a:t>
            </a:r>
            <a:r>
              <a:rPr dirty="0"/>
              <a:t> protection </a:t>
            </a:r>
            <a:r>
              <a:rPr dirty="0" err="1"/>
              <a:t>sociale</a:t>
            </a:r>
            <a:endParaRPr lang="en-US" dirty="0"/>
          </a:p>
          <a:p>
            <a:r>
              <a:rPr lang="en-US" dirty="0"/>
              <a:t>Pension de </a:t>
            </a:r>
            <a:r>
              <a:rPr lang="en-US" dirty="0" err="1"/>
              <a:t>retraite</a:t>
            </a:r>
            <a:endParaRPr dirty="0"/>
          </a:p>
          <a:p>
            <a:endParaRPr dirty="0"/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CEB87030-6363-93A8-2FE9-5EA3EF68BB5C}"/>
              </a:ext>
            </a:extLst>
          </p:cNvPr>
          <p:cNvSpPr/>
          <p:nvPr/>
        </p:nvSpPr>
        <p:spPr>
          <a:xfrm>
            <a:off x="6750843" y="158240"/>
            <a:ext cx="2055283" cy="712120"/>
          </a:xfrm>
          <a:custGeom>
            <a:avLst/>
            <a:gdLst/>
            <a:ahLst/>
            <a:cxnLst/>
            <a:rect l="l" t="t" r="r" b="b"/>
            <a:pathLst>
              <a:path w="5358341" h="1062738">
                <a:moveTo>
                  <a:pt x="0" y="0"/>
                </a:moveTo>
                <a:lnTo>
                  <a:pt x="5358341" y="0"/>
                </a:lnTo>
                <a:lnTo>
                  <a:pt x="5358341" y="1062738"/>
                </a:lnTo>
                <a:lnTo>
                  <a:pt x="0" y="1062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defTabSz="457223">
              <a:defRPr/>
            </a:pPr>
            <a:endParaRPr lang="en-PK" sz="90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149" y="870360"/>
            <a:ext cx="8229600" cy="775493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rgbClr val="002060"/>
                </a:solidFill>
              </a:rPr>
              <a:t>4. Données </a:t>
            </a:r>
            <a:r>
              <a:rPr b="1" dirty="0" err="1">
                <a:solidFill>
                  <a:srgbClr val="002060"/>
                </a:solidFill>
              </a:rPr>
              <a:t>Utilisées</a:t>
            </a:r>
            <a:r>
              <a:rPr b="1" dirty="0">
                <a:solidFill>
                  <a:srgbClr val="002060"/>
                </a:solidFill>
              </a:rPr>
              <a:t> (</a:t>
            </a:r>
            <a:r>
              <a:rPr b="1" dirty="0" err="1">
                <a:solidFill>
                  <a:srgbClr val="002060"/>
                </a:solidFill>
              </a:rPr>
              <a:t>Niveau</a:t>
            </a:r>
            <a:r>
              <a:rPr b="1" dirty="0">
                <a:solidFill>
                  <a:srgbClr val="002060"/>
                </a:solidFill>
              </a:rPr>
              <a:t> Ménage)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3750470"/>
          </a:xfrm>
        </p:spPr>
        <p:txBody>
          <a:bodyPr/>
          <a:lstStyle/>
          <a:p>
            <a:r>
              <a:rPr dirty="0"/>
              <a:t>Variables </a:t>
            </a:r>
            <a:r>
              <a:rPr dirty="0" err="1"/>
              <a:t>principales</a:t>
            </a:r>
            <a:r>
              <a:rPr dirty="0"/>
              <a:t> :</a:t>
            </a:r>
          </a:p>
          <a:p>
            <a:r>
              <a:rPr dirty="0"/>
              <a:t>• IRSA (</a:t>
            </a:r>
            <a:r>
              <a:rPr dirty="0" err="1"/>
              <a:t>dtx_irsa_hh</a:t>
            </a:r>
            <a:r>
              <a:rPr dirty="0"/>
              <a:t>)</a:t>
            </a:r>
          </a:p>
          <a:p>
            <a:r>
              <a:rPr dirty="0"/>
              <a:t>• IRCM (</a:t>
            </a:r>
            <a:r>
              <a:rPr dirty="0" err="1"/>
              <a:t>dtx_mova_hh</a:t>
            </a:r>
            <a:r>
              <a:rPr dirty="0"/>
              <a:t>)</a:t>
            </a:r>
          </a:p>
          <a:p>
            <a:r>
              <a:rPr dirty="0"/>
              <a:t>• Pension (</a:t>
            </a:r>
            <a:r>
              <a:rPr dirty="0" err="1"/>
              <a:t>pension_retraite_hh</a:t>
            </a:r>
            <a:r>
              <a:rPr dirty="0"/>
              <a:t>)</a:t>
            </a:r>
          </a:p>
          <a:p>
            <a:r>
              <a:rPr dirty="0"/>
              <a:t>• </a:t>
            </a:r>
            <a:r>
              <a:rPr dirty="0" err="1"/>
              <a:t>Cotisation</a:t>
            </a:r>
            <a:r>
              <a:rPr dirty="0"/>
              <a:t> </a:t>
            </a:r>
            <a:r>
              <a:rPr dirty="0" err="1"/>
              <a:t>sociale</a:t>
            </a:r>
            <a:r>
              <a:rPr dirty="0"/>
              <a:t> (</a:t>
            </a:r>
            <a:r>
              <a:rPr dirty="0" err="1"/>
              <a:t>cotisation_soc_hh</a:t>
            </a:r>
            <a:r>
              <a:rPr dirty="0"/>
              <a:t>)</a:t>
            </a:r>
          </a:p>
          <a:p>
            <a:r>
              <a:rPr dirty="0"/>
              <a:t>Nombre de ménages : 16 871</a:t>
            </a:r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67E8D4DD-0EB7-283D-6207-9DF8A040C56D}"/>
              </a:ext>
            </a:extLst>
          </p:cNvPr>
          <p:cNvSpPr/>
          <p:nvPr/>
        </p:nvSpPr>
        <p:spPr>
          <a:xfrm>
            <a:off x="6750843" y="158240"/>
            <a:ext cx="2055283" cy="712120"/>
          </a:xfrm>
          <a:custGeom>
            <a:avLst/>
            <a:gdLst/>
            <a:ahLst/>
            <a:cxnLst/>
            <a:rect l="l" t="t" r="r" b="b"/>
            <a:pathLst>
              <a:path w="5358341" h="1062738">
                <a:moveTo>
                  <a:pt x="0" y="0"/>
                </a:moveTo>
                <a:lnTo>
                  <a:pt x="5358341" y="0"/>
                </a:lnTo>
                <a:lnTo>
                  <a:pt x="5358341" y="1062738"/>
                </a:lnTo>
                <a:lnTo>
                  <a:pt x="0" y="1062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defTabSz="457223">
              <a:defRPr/>
            </a:pPr>
            <a:endParaRPr lang="en-PK" sz="90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12" y="767557"/>
            <a:ext cx="7250906" cy="1143000"/>
          </a:xfrm>
        </p:spPr>
        <p:txBody>
          <a:bodyPr>
            <a:normAutofit/>
          </a:bodyPr>
          <a:lstStyle/>
          <a:p>
            <a:r>
              <a:rPr sz="3600" b="1" dirty="0">
                <a:solidFill>
                  <a:srgbClr val="002060"/>
                </a:solidFill>
              </a:rPr>
              <a:t>5. </a:t>
            </a:r>
            <a:r>
              <a:rPr sz="3600" b="1" dirty="0" err="1">
                <a:solidFill>
                  <a:srgbClr val="002060"/>
                </a:solidFill>
              </a:rPr>
              <a:t>Résultats</a:t>
            </a:r>
            <a:r>
              <a:rPr sz="3600" b="1" dirty="0">
                <a:solidFill>
                  <a:srgbClr val="002060"/>
                </a:solidFill>
              </a:rPr>
              <a:t> </a:t>
            </a:r>
            <a:r>
              <a:rPr sz="3600" b="1" dirty="0" err="1">
                <a:solidFill>
                  <a:srgbClr val="002060"/>
                </a:solidFill>
              </a:rPr>
              <a:t>Empiriques</a:t>
            </a:r>
            <a:r>
              <a:rPr sz="3600" b="1" dirty="0">
                <a:solidFill>
                  <a:srgbClr val="002060"/>
                </a:solidFill>
              </a:rPr>
              <a:t> (</a:t>
            </a:r>
            <a:r>
              <a:rPr sz="3600" b="1" dirty="0" err="1">
                <a:solidFill>
                  <a:srgbClr val="002060"/>
                </a:solidFill>
              </a:rPr>
              <a:t>Moyennes</a:t>
            </a:r>
            <a:r>
              <a:rPr sz="3600" b="1" dirty="0">
                <a:solidFill>
                  <a:srgbClr val="002060"/>
                </a:solidFill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78856"/>
            <a:ext cx="8229600" cy="4240213"/>
          </a:xfrm>
        </p:spPr>
        <p:txBody>
          <a:bodyPr>
            <a:normAutofit lnSpcReduction="10000"/>
          </a:bodyPr>
          <a:lstStyle/>
          <a:p>
            <a:r>
              <a:rPr dirty="0"/>
              <a:t>IRSA moyen : 59 794 </a:t>
            </a:r>
            <a:r>
              <a:rPr dirty="0" err="1"/>
              <a:t>Ar</a:t>
            </a:r>
            <a:endParaRPr dirty="0"/>
          </a:p>
          <a:p>
            <a:r>
              <a:rPr dirty="0"/>
              <a:t>IRCM moyen : 42 080 </a:t>
            </a:r>
            <a:r>
              <a:rPr dirty="0" err="1"/>
              <a:t>Ar</a:t>
            </a:r>
            <a:endParaRPr dirty="0"/>
          </a:p>
          <a:p>
            <a:r>
              <a:rPr dirty="0"/>
              <a:t>Pension </a:t>
            </a:r>
            <a:r>
              <a:rPr dirty="0" err="1"/>
              <a:t>moyenne</a:t>
            </a:r>
            <a:r>
              <a:rPr dirty="0"/>
              <a:t> : 33 729 </a:t>
            </a:r>
            <a:r>
              <a:rPr dirty="0" err="1"/>
              <a:t>Ar</a:t>
            </a:r>
            <a:endParaRPr dirty="0"/>
          </a:p>
          <a:p>
            <a:r>
              <a:rPr dirty="0" err="1"/>
              <a:t>Cotisation</a:t>
            </a:r>
            <a:r>
              <a:rPr dirty="0"/>
              <a:t> </a:t>
            </a:r>
            <a:r>
              <a:rPr dirty="0" err="1"/>
              <a:t>sociale</a:t>
            </a:r>
            <a:r>
              <a:rPr dirty="0"/>
              <a:t> </a:t>
            </a:r>
            <a:r>
              <a:rPr dirty="0" err="1"/>
              <a:t>moyenne</a:t>
            </a:r>
            <a:r>
              <a:rPr dirty="0"/>
              <a:t> : 3 373 </a:t>
            </a:r>
            <a:r>
              <a:rPr dirty="0" err="1"/>
              <a:t>Ar</a:t>
            </a:r>
            <a:endParaRPr dirty="0"/>
          </a:p>
          <a:p>
            <a:endParaRPr dirty="0"/>
          </a:p>
          <a:p>
            <a:r>
              <a:rPr dirty="0"/>
              <a:t>→ Forte dispersion (</a:t>
            </a:r>
            <a:r>
              <a:rPr dirty="0" err="1"/>
              <a:t>écarts</a:t>
            </a:r>
            <a:r>
              <a:rPr dirty="0"/>
              <a:t>-types </a:t>
            </a:r>
            <a:r>
              <a:rPr dirty="0" err="1"/>
              <a:t>élevés</a:t>
            </a:r>
            <a:r>
              <a:rPr dirty="0"/>
              <a:t>)</a:t>
            </a:r>
          </a:p>
          <a:p>
            <a:r>
              <a:rPr dirty="0"/>
              <a:t>→ Concentration des </a:t>
            </a:r>
            <a:r>
              <a:rPr dirty="0" err="1"/>
              <a:t>impôts</a:t>
            </a:r>
            <a:r>
              <a:rPr dirty="0"/>
              <a:t> sur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minorité</a:t>
            </a:r>
            <a:r>
              <a:rPr dirty="0"/>
              <a:t> de ménages</a:t>
            </a:r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E4D53F96-180D-7F8F-EE46-C23D194A69C8}"/>
              </a:ext>
            </a:extLst>
          </p:cNvPr>
          <p:cNvSpPr/>
          <p:nvPr/>
        </p:nvSpPr>
        <p:spPr>
          <a:xfrm>
            <a:off x="6750843" y="158240"/>
            <a:ext cx="2055283" cy="712120"/>
          </a:xfrm>
          <a:custGeom>
            <a:avLst/>
            <a:gdLst/>
            <a:ahLst/>
            <a:cxnLst/>
            <a:rect l="l" t="t" r="r" b="b"/>
            <a:pathLst>
              <a:path w="5358341" h="1062738">
                <a:moveTo>
                  <a:pt x="0" y="0"/>
                </a:moveTo>
                <a:lnTo>
                  <a:pt x="5358341" y="0"/>
                </a:lnTo>
                <a:lnTo>
                  <a:pt x="5358341" y="1062738"/>
                </a:lnTo>
                <a:lnTo>
                  <a:pt x="0" y="1062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defTabSz="457223">
              <a:defRPr/>
            </a:pPr>
            <a:endParaRPr lang="en-PK" sz="90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5" y="731837"/>
            <a:ext cx="5850731" cy="711200"/>
          </a:xfrm>
        </p:spPr>
        <p:txBody>
          <a:bodyPr>
            <a:normAutofit/>
          </a:bodyPr>
          <a:lstStyle/>
          <a:p>
            <a:r>
              <a:rPr sz="3600" b="1" dirty="0">
                <a:solidFill>
                  <a:srgbClr val="002060"/>
                </a:solidFill>
              </a:rPr>
              <a:t>6. </a:t>
            </a:r>
            <a:r>
              <a:rPr sz="3600" b="1" dirty="0" err="1">
                <a:solidFill>
                  <a:srgbClr val="002060"/>
                </a:solidFill>
              </a:rPr>
              <a:t>Interprétation</a:t>
            </a:r>
            <a:r>
              <a:rPr sz="3600" b="1" dirty="0">
                <a:solidFill>
                  <a:srgbClr val="002060"/>
                </a:solidFill>
              </a:rPr>
              <a:t> </a:t>
            </a:r>
            <a:r>
              <a:rPr sz="3600" b="1" dirty="0" err="1">
                <a:solidFill>
                  <a:srgbClr val="002060"/>
                </a:solidFill>
              </a:rPr>
              <a:t>Économique</a:t>
            </a:r>
            <a:endParaRPr sz="36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14525"/>
            <a:ext cx="8229600" cy="3929063"/>
          </a:xfrm>
        </p:spPr>
        <p:txBody>
          <a:bodyPr/>
          <a:lstStyle/>
          <a:p>
            <a:r>
              <a:rPr dirty="0"/>
              <a:t>• IRSA </a:t>
            </a:r>
            <a:r>
              <a:rPr dirty="0" err="1"/>
              <a:t>représente</a:t>
            </a:r>
            <a:r>
              <a:rPr dirty="0"/>
              <a:t> la </a:t>
            </a:r>
            <a:r>
              <a:rPr dirty="0" err="1"/>
              <a:t>principale</a:t>
            </a:r>
            <a:r>
              <a:rPr dirty="0"/>
              <a:t> </a:t>
            </a:r>
            <a:r>
              <a:rPr dirty="0" err="1"/>
              <a:t>composante</a:t>
            </a:r>
            <a:r>
              <a:rPr dirty="0"/>
              <a:t> des </a:t>
            </a:r>
            <a:r>
              <a:rPr dirty="0" err="1"/>
              <a:t>impôts</a:t>
            </a:r>
            <a:r>
              <a:rPr dirty="0"/>
              <a:t> directs.</a:t>
            </a:r>
          </a:p>
          <a:p>
            <a:r>
              <a:rPr dirty="0"/>
              <a:t>• Les </a:t>
            </a:r>
            <a:r>
              <a:rPr dirty="0" err="1"/>
              <a:t>cotisations</a:t>
            </a:r>
            <a:r>
              <a:rPr dirty="0"/>
              <a:t> </a:t>
            </a:r>
            <a:r>
              <a:rPr dirty="0" err="1"/>
              <a:t>sociales</a:t>
            </a:r>
            <a:r>
              <a:rPr dirty="0"/>
              <a:t> </a:t>
            </a:r>
            <a:r>
              <a:rPr dirty="0" err="1"/>
              <a:t>restent</a:t>
            </a:r>
            <a:r>
              <a:rPr dirty="0"/>
              <a:t> </a:t>
            </a:r>
            <a:r>
              <a:rPr dirty="0" err="1"/>
              <a:t>relativement</a:t>
            </a:r>
            <a:r>
              <a:rPr dirty="0"/>
              <a:t> </a:t>
            </a:r>
            <a:r>
              <a:rPr dirty="0" err="1"/>
              <a:t>faibles</a:t>
            </a:r>
            <a:r>
              <a:rPr dirty="0"/>
              <a:t>.</a:t>
            </a:r>
          </a:p>
          <a:p>
            <a:r>
              <a:rPr dirty="0"/>
              <a:t>• Distribution très </a:t>
            </a:r>
            <a:r>
              <a:rPr dirty="0" err="1"/>
              <a:t>inégalitaire</a:t>
            </a:r>
            <a:r>
              <a:rPr dirty="0"/>
              <a:t> des </a:t>
            </a:r>
            <a:r>
              <a:rPr dirty="0" err="1"/>
              <a:t>paiements</a:t>
            </a:r>
            <a:r>
              <a:rPr dirty="0"/>
              <a:t>.</a:t>
            </a:r>
          </a:p>
          <a:p>
            <a:r>
              <a:rPr dirty="0"/>
              <a:t>• Importance pour </a:t>
            </a:r>
            <a:r>
              <a:rPr dirty="0" err="1"/>
              <a:t>l’analyse</a:t>
            </a:r>
            <a:r>
              <a:rPr dirty="0"/>
              <a:t> CEQ et incidence </a:t>
            </a:r>
            <a:r>
              <a:rPr dirty="0" err="1"/>
              <a:t>fiscale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0AA39C45-BD11-62A4-AD35-73FE66BFFA25}"/>
              </a:ext>
            </a:extLst>
          </p:cNvPr>
          <p:cNvSpPr/>
          <p:nvPr/>
        </p:nvSpPr>
        <p:spPr>
          <a:xfrm>
            <a:off x="6750843" y="158240"/>
            <a:ext cx="2055283" cy="712120"/>
          </a:xfrm>
          <a:custGeom>
            <a:avLst/>
            <a:gdLst/>
            <a:ahLst/>
            <a:cxnLst/>
            <a:rect l="l" t="t" r="r" b="b"/>
            <a:pathLst>
              <a:path w="5358341" h="1062738">
                <a:moveTo>
                  <a:pt x="0" y="0"/>
                </a:moveTo>
                <a:lnTo>
                  <a:pt x="5358341" y="0"/>
                </a:lnTo>
                <a:lnTo>
                  <a:pt x="5358341" y="1062738"/>
                </a:lnTo>
                <a:lnTo>
                  <a:pt x="0" y="1062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defTabSz="457223">
              <a:defRPr/>
            </a:pPr>
            <a:endParaRPr lang="en-PK" sz="90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50080"/>
            <a:ext cx="3564731" cy="767557"/>
          </a:xfrm>
        </p:spPr>
        <p:txBody>
          <a:bodyPr>
            <a:normAutofit/>
          </a:bodyPr>
          <a:lstStyle/>
          <a:p>
            <a:r>
              <a:rPr sz="3600" b="1" dirty="0">
                <a:solidFill>
                  <a:srgbClr val="002060"/>
                </a:solidFill>
              </a:rPr>
              <a:t>7</a:t>
            </a:r>
            <a:r>
              <a:rPr sz="3600" b="1" dirty="0"/>
              <a:t>. </a:t>
            </a:r>
            <a:r>
              <a:rPr sz="3600" b="1" dirty="0">
                <a:solidFill>
                  <a:srgbClr val="00206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81957"/>
            <a:ext cx="8229600" cy="4525963"/>
          </a:xfrm>
        </p:spPr>
        <p:txBody>
          <a:bodyPr/>
          <a:lstStyle/>
          <a:p>
            <a:r>
              <a:rPr dirty="0"/>
              <a:t>• Les </a:t>
            </a:r>
            <a:r>
              <a:rPr dirty="0" err="1"/>
              <a:t>impôts</a:t>
            </a:r>
            <a:r>
              <a:rPr dirty="0"/>
              <a:t> directs </a:t>
            </a:r>
            <a:r>
              <a:rPr dirty="0" err="1"/>
              <a:t>jouent</a:t>
            </a:r>
            <a:r>
              <a:rPr dirty="0"/>
              <a:t> un </a:t>
            </a:r>
            <a:r>
              <a:rPr dirty="0" err="1"/>
              <a:t>rôle</a:t>
            </a:r>
            <a:r>
              <a:rPr dirty="0"/>
              <a:t> </a:t>
            </a:r>
            <a:r>
              <a:rPr dirty="0" err="1"/>
              <a:t>clé</a:t>
            </a:r>
            <a:r>
              <a:rPr dirty="0"/>
              <a:t> dans la redistribution.</a:t>
            </a:r>
          </a:p>
          <a:p>
            <a:r>
              <a:rPr dirty="0"/>
              <a:t>• Structure </a:t>
            </a:r>
            <a:r>
              <a:rPr dirty="0" err="1"/>
              <a:t>mixte</a:t>
            </a:r>
            <a:r>
              <a:rPr dirty="0"/>
              <a:t> : </a:t>
            </a:r>
            <a:r>
              <a:rPr dirty="0" err="1"/>
              <a:t>progressivité</a:t>
            </a:r>
            <a:r>
              <a:rPr dirty="0"/>
              <a:t> + </a:t>
            </a:r>
            <a:r>
              <a:rPr dirty="0" err="1"/>
              <a:t>proportionnalité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Potentiel</a:t>
            </a:r>
            <a:r>
              <a:rPr dirty="0"/>
              <a:t> </a:t>
            </a:r>
            <a:r>
              <a:rPr dirty="0" err="1"/>
              <a:t>d’amélioration</a:t>
            </a:r>
            <a:r>
              <a:rPr dirty="0"/>
              <a:t> via </a:t>
            </a:r>
            <a:r>
              <a:rPr dirty="0" err="1"/>
              <a:t>élargissement</a:t>
            </a:r>
            <a:r>
              <a:rPr dirty="0"/>
              <a:t> de </a:t>
            </a:r>
            <a:r>
              <a:rPr dirty="0" err="1"/>
              <a:t>l’assiette</a:t>
            </a:r>
            <a:r>
              <a:rPr dirty="0"/>
              <a:t>.</a:t>
            </a:r>
          </a:p>
          <a:p>
            <a:r>
              <a:rPr dirty="0"/>
              <a:t>• Importance de </a:t>
            </a:r>
            <a:r>
              <a:rPr dirty="0" err="1"/>
              <a:t>l’analyse</a:t>
            </a:r>
            <a:r>
              <a:rPr dirty="0"/>
              <a:t> </a:t>
            </a:r>
            <a:r>
              <a:rPr dirty="0" err="1"/>
              <a:t>d’incidence</a:t>
            </a:r>
            <a:r>
              <a:rPr dirty="0"/>
              <a:t> pour </a:t>
            </a:r>
            <a:r>
              <a:rPr dirty="0" err="1"/>
              <a:t>évaluer</a:t>
            </a:r>
            <a:r>
              <a:rPr dirty="0"/>
              <a:t> </a:t>
            </a:r>
            <a:r>
              <a:rPr dirty="0" err="1"/>
              <a:t>l’équité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A52E6AC2-DBBC-611F-A17E-642C4B0E2833}"/>
              </a:ext>
            </a:extLst>
          </p:cNvPr>
          <p:cNvSpPr/>
          <p:nvPr/>
        </p:nvSpPr>
        <p:spPr>
          <a:xfrm>
            <a:off x="6750843" y="158240"/>
            <a:ext cx="2055283" cy="712120"/>
          </a:xfrm>
          <a:custGeom>
            <a:avLst/>
            <a:gdLst/>
            <a:ahLst/>
            <a:cxnLst/>
            <a:rect l="l" t="t" r="r" b="b"/>
            <a:pathLst>
              <a:path w="5358341" h="1062738">
                <a:moveTo>
                  <a:pt x="0" y="0"/>
                </a:moveTo>
                <a:lnTo>
                  <a:pt x="5358341" y="0"/>
                </a:lnTo>
                <a:lnTo>
                  <a:pt x="5358341" y="1062738"/>
                </a:lnTo>
                <a:lnTo>
                  <a:pt x="0" y="1062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defTabSz="457223">
              <a:defRPr/>
            </a:pPr>
            <a:endParaRPr lang="en-PK" sz="90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WBP&amp;EPPT">
  <a:themeElements>
    <a:clrScheme name="Poverty and Equity">
      <a:dk1>
        <a:sysClr val="windowText" lastClr="000000"/>
      </a:dk1>
      <a:lt1>
        <a:srgbClr val="FFFFFF"/>
      </a:lt1>
      <a:dk2>
        <a:srgbClr val="002244"/>
      </a:dk2>
      <a:lt2>
        <a:srgbClr val="FFFFFF"/>
      </a:lt2>
      <a:accent1>
        <a:srgbClr val="002244"/>
      </a:accent1>
      <a:accent2>
        <a:srgbClr val="009FDA"/>
      </a:accent2>
      <a:accent3>
        <a:srgbClr val="D9CBE4"/>
      </a:accent3>
      <a:accent4>
        <a:srgbClr val="A3CED6"/>
      </a:accent4>
      <a:accent5>
        <a:srgbClr val="A584BF"/>
      </a:accent5>
      <a:accent6>
        <a:srgbClr val="34ABA2"/>
      </a:accent6>
      <a:hlink>
        <a:srgbClr val="3592CF"/>
      </a:hlink>
      <a:folHlink>
        <a:srgbClr val="3592CF"/>
      </a:folHlink>
    </a:clrScheme>
    <a:fontScheme name="WBP&amp;E">
      <a:majorFont>
        <a:latin typeface="Raleway"/>
        <a:ea typeface=""/>
        <a:cs typeface=""/>
      </a:majorFont>
      <a:minorFont>
        <a:latin typeface="Calibri"/>
        <a:ea typeface=""/>
        <a:cs typeface=""/>
      </a:minorFont>
    </a:fontScheme>
    <a:fmtScheme name="Office Effects">
      <a:fillStyleLst>
        <a:solidFill>
          <a:schemeClr val="phClr">
            <a:tint val="100000"/>
            <a:shade val="100000"/>
            <a:satMod val="100000"/>
          </a:schemeClr>
        </a:solidFill>
        <a:gradFill rotWithShape="1">
          <a:gsLst>
            <a:gs pos="0">
              <a:schemeClr val="phClr">
                <a:tint val="65000"/>
                <a:shade val="100000"/>
                <a:satMod val="133000"/>
              </a:schemeClr>
            </a:gs>
            <a:gs pos="15000">
              <a:schemeClr val="phClr">
                <a:tint val="50000"/>
                <a:shade val="100000"/>
                <a:satMod val="140000"/>
              </a:schemeClr>
            </a:gs>
            <a:gs pos="100000">
              <a:schemeClr val="phClr">
                <a:tint val="1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75000"/>
                <a:satMod val="160000"/>
              </a:schemeClr>
            </a:gs>
            <a:gs pos="62000">
              <a:schemeClr val="phClr">
                <a:tint val="100000"/>
                <a:shade val="100000"/>
                <a:satMod val="125000"/>
              </a:schemeClr>
            </a:gs>
            <a:gs pos="100000">
              <a:schemeClr val="phClr">
                <a:tint val="80000"/>
                <a:shade val="100000"/>
                <a:satMod val="140000"/>
              </a:schemeClr>
            </a:gs>
          </a:gsLst>
          <a:lin ang="16200000" scaled="1"/>
        </a:gra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61176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>
                <a:tint val="100000"/>
                <a:shade val="100000"/>
                <a:satMod val="100000"/>
              </a:schemeClr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>
                <a:tint val="100000"/>
                <a:shade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satMod val="145000"/>
              </a:schemeClr>
            </a:gs>
            <a:gs pos="40000">
              <a:schemeClr val="phClr">
                <a:tint val="100000"/>
                <a:shade val="70000"/>
                <a:satMod val="145000"/>
              </a:schemeClr>
            </a:gs>
            <a:gs pos="100000">
              <a:schemeClr val="phClr">
                <a:tint val="85000"/>
                <a:shade val="100000"/>
                <a:satMod val="15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50000"/>
                <a:satMod val="145000"/>
              </a:schemeClr>
            </a:gs>
            <a:gs pos="30000">
              <a:schemeClr val="phClr">
                <a:tint val="100000"/>
                <a:shade val="65000"/>
                <a:satMod val="155000"/>
              </a:schemeClr>
            </a:gs>
            <a:gs pos="100000">
              <a:schemeClr val="phClr">
                <a:tint val="60000"/>
                <a:shade val="10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B4A2AB7-9B0A-4E64-A49E-F9A3674C2DDE}" vid="{C52B9C11-2388-4217-998D-0CC5AB19C548}"/>
    </a:ext>
  </a:extLst>
</a:theme>
</file>

<file path=ppt/theme/theme4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61D0F0BA2264449C2E941D55568CC9" ma:contentTypeVersion="15" ma:contentTypeDescription="Create a new document." ma:contentTypeScope="" ma:versionID="c59ef006a18c46ace3953fdb84dd6ad3">
  <xsd:schema xmlns:xsd="http://www.w3.org/2001/XMLSchema" xmlns:xs="http://www.w3.org/2001/XMLSchema" xmlns:p="http://schemas.microsoft.com/office/2006/metadata/properties" xmlns:ns3="01690abf-44bd-4e19-9469-7dabf4233243" xmlns:ns4="25934ad6-6c97-4775-8822-f71a868317bf" targetNamespace="http://schemas.microsoft.com/office/2006/metadata/properties" ma:root="true" ma:fieldsID="745f09260afab2fc6e90866be667910a" ns3:_="" ns4:_="">
    <xsd:import namespace="01690abf-44bd-4e19-9469-7dabf4233243"/>
    <xsd:import namespace="25934ad6-6c97-4775-8822-f71a868317bf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690abf-44bd-4e19-9469-7dabf423324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934ad6-6c97-4775-8822-f71a868317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5934ad6-6c97-4775-8822-f71a868317bf" xsi:nil="true"/>
  </documentManagement>
</p:properties>
</file>

<file path=customXml/itemProps1.xml><?xml version="1.0" encoding="utf-8"?>
<ds:datastoreItem xmlns:ds="http://schemas.openxmlformats.org/officeDocument/2006/customXml" ds:itemID="{21B1F001-2D7F-432F-AA6C-93A3D577B9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690abf-44bd-4e19-9469-7dabf4233243"/>
    <ds:schemaRef ds:uri="25934ad6-6c97-4775-8822-f71a868317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2B6317D-CB1D-4E85-A267-24B7148AF6F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642CD7A-610B-43A6-8D2F-39ADD0FE5B5A}">
  <ds:schemaRefs>
    <ds:schemaRef ds:uri="01690abf-44bd-4e19-9469-7dabf4233243"/>
    <ds:schemaRef ds:uri="http://www.w3.org/XML/1998/namespace"/>
    <ds:schemaRef ds:uri="http://purl.org/dc/elements/1.1/"/>
    <ds:schemaRef ds:uri="http://schemas.microsoft.com/office/2006/metadata/properties"/>
    <ds:schemaRef ds:uri="http://purl.org/dc/dcmitype/"/>
    <ds:schemaRef ds:uri="25934ad6-6c97-4775-8822-f71a868317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1534</TotalTime>
  <Words>695</Words>
  <Application>Microsoft Office PowerPoint</Application>
  <PresentationFormat>Affichage à l'écran (4:3)</PresentationFormat>
  <Paragraphs>81</Paragraphs>
  <Slides>12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4</vt:i4>
      </vt:variant>
      <vt:variant>
        <vt:lpstr>Titres des diapositives</vt:lpstr>
      </vt:variant>
      <vt:variant>
        <vt:i4>12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Calibri Light</vt:lpstr>
      <vt:lpstr>Raleway</vt:lpstr>
      <vt:lpstr>Raleway Bold</vt:lpstr>
      <vt:lpstr>Times New Roman</vt:lpstr>
      <vt:lpstr>Wingdings</vt:lpstr>
      <vt:lpstr>Office Theme</vt:lpstr>
      <vt:lpstr>Thème Office</vt:lpstr>
      <vt:lpstr>WBP&amp;EPPT</vt:lpstr>
      <vt:lpstr>1_Office Theme</vt:lpstr>
      <vt:lpstr>Evaluation CEQ - Madagascar</vt:lpstr>
      <vt:lpstr>Présentation PowerPoint</vt:lpstr>
      <vt:lpstr>Présentation PowerPoint</vt:lpstr>
      <vt:lpstr>Présentation PowerPoint</vt:lpstr>
      <vt:lpstr>Impôts Directs : Cadre Théorique et Résultats Empiriques</vt:lpstr>
      <vt:lpstr>1. Définition des Impôts Directs</vt:lpstr>
      <vt:lpstr>2. Fondements Théoriques</vt:lpstr>
      <vt:lpstr>3. Structure des Impôts Directs (Madagascar)</vt:lpstr>
      <vt:lpstr>4. Données Utilisées (Niveau Ménage)</vt:lpstr>
      <vt:lpstr>5. Résultats Empiriques (Moyennes)</vt:lpstr>
      <vt:lpstr>6. Interprétation Économique</vt:lpstr>
      <vt:lpstr>7.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Fatoumata Dieng</dc:creator>
  <cp:keywords/>
  <dc:description>generated using python-pptx</dc:description>
  <cp:lastModifiedBy>Fatoumata Dieng</cp:lastModifiedBy>
  <cp:revision>3</cp:revision>
  <dcterms:created xsi:type="dcterms:W3CDTF">2013-01-27T09:14:16Z</dcterms:created>
  <dcterms:modified xsi:type="dcterms:W3CDTF">2026-03-03T04:22:53Z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1bf45b6-5649-4236-82a3-f45024cd282e_Enabled">
    <vt:lpwstr>true</vt:lpwstr>
  </property>
  <property fmtid="{D5CDD505-2E9C-101B-9397-08002B2CF9AE}" pid="3" name="MSIP_Label_f1bf45b6-5649-4236-82a3-f45024cd282e_SetDate">
    <vt:lpwstr>2026-03-02T02:49:17Z</vt:lpwstr>
  </property>
  <property fmtid="{D5CDD505-2E9C-101B-9397-08002B2CF9AE}" pid="4" name="MSIP_Label_f1bf45b6-5649-4236-82a3-f45024cd282e_Method">
    <vt:lpwstr>Standard</vt:lpwstr>
  </property>
  <property fmtid="{D5CDD505-2E9C-101B-9397-08002B2CF9AE}" pid="5" name="MSIP_Label_f1bf45b6-5649-4236-82a3-f45024cd282e_Name">
    <vt:lpwstr>Official Use Only</vt:lpwstr>
  </property>
  <property fmtid="{D5CDD505-2E9C-101B-9397-08002B2CF9AE}" pid="6" name="MSIP_Label_f1bf45b6-5649-4236-82a3-f45024cd282e_SiteId">
    <vt:lpwstr>31a2fec0-266b-4c67-b56e-2796d8f59c36</vt:lpwstr>
  </property>
  <property fmtid="{D5CDD505-2E9C-101B-9397-08002B2CF9AE}" pid="7" name="MSIP_Label_f1bf45b6-5649-4236-82a3-f45024cd282e_ActionId">
    <vt:lpwstr>bad28c3b-f19b-4873-8943-b8ba858dea8a</vt:lpwstr>
  </property>
  <property fmtid="{D5CDD505-2E9C-101B-9397-08002B2CF9AE}" pid="8" name="MSIP_Label_f1bf45b6-5649-4236-82a3-f45024cd282e_ContentBits">
    <vt:lpwstr>2</vt:lpwstr>
  </property>
  <property fmtid="{D5CDD505-2E9C-101B-9397-08002B2CF9AE}" pid="9" name="MSIP_Label_f1bf45b6-5649-4236-82a3-f45024cd282e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Official Use Only</vt:lpwstr>
  </property>
  <property fmtid="{D5CDD505-2E9C-101B-9397-08002B2CF9AE}" pid="12" name="ContentTypeId">
    <vt:lpwstr>0x010100AB61D0F0BA2264449C2E941D55568CC9</vt:lpwstr>
  </property>
</Properties>
</file>